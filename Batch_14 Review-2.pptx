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2" r:id="rId2"/>
    <p:sldId id="257" r:id="rId3"/>
    <p:sldId id="903" r:id="rId4"/>
    <p:sldId id="902" r:id="rId5"/>
    <p:sldId id="904" r:id="rId6"/>
    <p:sldId id="258" r:id="rId7"/>
    <p:sldId id="259" r:id="rId8"/>
    <p:sldId id="905"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FAE5D6-5356-4B72-AFFB-B9FB56467379}" v="1" dt="2026-09-24T09:03:58.8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wanthi Madala" userId="49cd92076faabe43" providerId="LiveId" clId="{5C98A17E-5BA9-4042-BED8-B144F50F83FC}"/>
    <pc:docChg chg="custSel modSld">
      <pc:chgData name="Haswanthi Madala" userId="49cd92076faabe43" providerId="LiveId" clId="{5C98A17E-5BA9-4042-BED8-B144F50F83FC}" dt="2026-09-24T09:04:15.883" v="13" actId="14100"/>
      <pc:docMkLst>
        <pc:docMk/>
      </pc:docMkLst>
      <pc:sldChg chg="delSp modSp mod">
        <pc:chgData name="Haswanthi Madala" userId="49cd92076faabe43" providerId="LiveId" clId="{5C98A17E-5BA9-4042-BED8-B144F50F83FC}" dt="2026-09-24T08:37:25.539" v="3" actId="207"/>
        <pc:sldMkLst>
          <pc:docMk/>
          <pc:sldMk cId="2247602601" sldId="262"/>
        </pc:sldMkLst>
        <pc:spChg chg="mod">
          <ac:chgData name="Haswanthi Madala" userId="49cd92076faabe43" providerId="LiveId" clId="{5C98A17E-5BA9-4042-BED8-B144F50F83FC}" dt="2026-09-24T08:37:25.539" v="3" actId="207"/>
          <ac:spMkLst>
            <pc:docMk/>
            <pc:sldMk cId="2247602601" sldId="262"/>
            <ac:spMk id="14" creationId="{DD4CF64F-3FB6-0CE4-B778-63C5D5A1D343}"/>
          </ac:spMkLst>
        </pc:spChg>
        <pc:spChg chg="del">
          <ac:chgData name="Haswanthi Madala" userId="49cd92076faabe43" providerId="LiveId" clId="{5C98A17E-5BA9-4042-BED8-B144F50F83FC}" dt="2026-09-24T08:36:55.773" v="0" actId="478"/>
          <ac:spMkLst>
            <pc:docMk/>
            <pc:sldMk cId="2247602601" sldId="262"/>
            <ac:spMk id="16" creationId="{500C0830-A1CA-96AE-68D2-18C57ABE4802}"/>
          </ac:spMkLst>
        </pc:spChg>
        <pc:graphicFrameChg chg="modGraphic">
          <ac:chgData name="Haswanthi Madala" userId="49cd92076faabe43" providerId="LiveId" clId="{5C98A17E-5BA9-4042-BED8-B144F50F83FC}" dt="2026-09-24T08:37:00.968" v="2" actId="20577"/>
          <ac:graphicFrameMkLst>
            <pc:docMk/>
            <pc:sldMk cId="2247602601" sldId="262"/>
            <ac:graphicFrameMk id="18" creationId="{BD22BC4D-4857-7D81-7819-37B7BB426420}"/>
          </ac:graphicFrameMkLst>
        </pc:graphicFrameChg>
      </pc:sldChg>
      <pc:sldChg chg="addSp modSp mod">
        <pc:chgData name="Haswanthi Madala" userId="49cd92076faabe43" providerId="LiveId" clId="{5C98A17E-5BA9-4042-BED8-B144F50F83FC}" dt="2026-09-24T08:53:50.466" v="7" actId="113"/>
        <pc:sldMkLst>
          <pc:docMk/>
          <pc:sldMk cId="3029277067" sldId="902"/>
        </pc:sldMkLst>
        <pc:spChg chg="add mod">
          <ac:chgData name="Haswanthi Madala" userId="49cd92076faabe43" providerId="LiveId" clId="{5C98A17E-5BA9-4042-BED8-B144F50F83FC}" dt="2026-09-24T08:53:50.466" v="7" actId="113"/>
          <ac:spMkLst>
            <pc:docMk/>
            <pc:sldMk cId="3029277067" sldId="902"/>
            <ac:spMk id="3" creationId="{676A3E38-4184-9EC8-E40E-3ED7553A731D}"/>
          </ac:spMkLst>
        </pc:spChg>
      </pc:sldChg>
      <pc:sldChg chg="addSp delSp modSp mod">
        <pc:chgData name="Haswanthi Madala" userId="49cd92076faabe43" providerId="LiveId" clId="{5C98A17E-5BA9-4042-BED8-B144F50F83FC}" dt="2026-09-24T09:04:15.883" v="13" actId="14100"/>
        <pc:sldMkLst>
          <pc:docMk/>
          <pc:sldMk cId="3917782940" sldId="903"/>
        </pc:sldMkLst>
        <pc:picChg chg="add mod">
          <ac:chgData name="Haswanthi Madala" userId="49cd92076faabe43" providerId="LiveId" clId="{5C98A17E-5BA9-4042-BED8-B144F50F83FC}" dt="2026-09-24T09:04:15.883" v="13" actId="14100"/>
          <ac:picMkLst>
            <pc:docMk/>
            <pc:sldMk cId="3917782940" sldId="903"/>
            <ac:picMk id="2" creationId="{A20A9EBB-05EA-2D74-CAA8-A87A6F85ED91}"/>
          </ac:picMkLst>
        </pc:picChg>
        <pc:picChg chg="del">
          <ac:chgData name="Haswanthi Madala" userId="49cd92076faabe43" providerId="LiveId" clId="{5C98A17E-5BA9-4042-BED8-B144F50F83FC}" dt="2026-09-24T09:03:57.897" v="8" actId="478"/>
          <ac:picMkLst>
            <pc:docMk/>
            <pc:sldMk cId="3917782940" sldId="903"/>
            <ac:picMk id="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4</a:t>
            </a:fld>
            <a:endParaRPr lang="en-IN"/>
          </a:p>
        </p:txBody>
      </p:sp>
    </p:spTree>
    <p:extLst>
      <p:ext uri="{BB962C8B-B14F-4D97-AF65-F5344CB8AC3E}">
        <p14:creationId xmlns:p14="http://schemas.microsoft.com/office/powerpoint/2010/main" val="1647703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659EF-0607-10CA-C9D2-100380899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F9FC5-ADB5-AB1A-C37A-083DB350AA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F58F68-034C-A9EA-0E79-FD8CB7C5875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999291-3FEF-5242-87D4-0A11150C54F2}"/>
              </a:ext>
            </a:extLst>
          </p:cNvPr>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4282849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9/24/2026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802411753"/>
              </p:ext>
            </p:extLst>
          </p:nvPr>
        </p:nvGraphicFramePr>
        <p:xfrm>
          <a:off x="8118702" y="4673837"/>
          <a:ext cx="3702050" cy="201168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r>
                        <a:rPr sz="1400" dirty="0">
                          <a:latin typeface="Times New Roman"/>
                        </a:rPr>
                        <a:t>Team Members</a:t>
                      </a:r>
                    </a:p>
                    <a:p>
                      <a:r>
                        <a:rPr sz="1400" dirty="0">
                          <a:latin typeface="Times New Roman"/>
                        </a:rPr>
                        <a:t>Name : M.</a:t>
                      </a:r>
                      <a:r>
                        <a:rPr lang="en-IN" sz="1400" dirty="0">
                          <a:latin typeface="Times New Roman"/>
                        </a:rPr>
                        <a:t> </a:t>
                      </a:r>
                      <a:r>
                        <a:rPr sz="1400" dirty="0">
                          <a:latin typeface="Times New Roman"/>
                        </a:rPr>
                        <a:t>Haswanthi</a:t>
                      </a:r>
                    </a:p>
                    <a:p>
                      <a:r>
                        <a:rPr sz="1400" dirty="0">
                          <a:latin typeface="Times New Roman"/>
                        </a:rPr>
                        <a:t>Roll Number : 2420030143</a:t>
                      </a:r>
                    </a:p>
                    <a:p>
                      <a:endParaRPr sz="1400" dirty="0">
                        <a:latin typeface="Times New Roman"/>
                      </a:endParaRPr>
                    </a:p>
                    <a:p>
                      <a:r>
                        <a:rPr sz="1400" dirty="0">
                          <a:latin typeface="Times New Roman"/>
                        </a:rPr>
                        <a:t>Name : K. Akshitha</a:t>
                      </a:r>
                    </a:p>
                    <a:p>
                      <a:r>
                        <a:rPr sz="1400" dirty="0">
                          <a:latin typeface="Times New Roman"/>
                        </a:rPr>
                        <a:t>Roll Number : 2420030146</a:t>
                      </a:r>
                    </a:p>
                    <a:p>
                      <a:endParaRPr sz="1400" dirty="0">
                        <a:latin typeface="Times New Roman"/>
                      </a:endParaRPr>
                    </a:p>
                    <a:p>
                      <a:r>
                        <a:rPr sz="1400" dirty="0">
                          <a:latin typeface="Times New Roman"/>
                        </a:rPr>
                        <a:t>Name : K. </a:t>
                      </a:r>
                      <a:r>
                        <a:rPr sz="1400" dirty="0" err="1">
                          <a:latin typeface="Times New Roman"/>
                        </a:rPr>
                        <a:t>Sreevardhan</a:t>
                      </a:r>
                      <a:endParaRPr sz="1400" dirty="0">
                        <a:latin typeface="Times New Roman"/>
                      </a:endParaRPr>
                    </a:p>
                    <a:p>
                      <a:r>
                        <a:rPr sz="1400" dirty="0">
                          <a:latin typeface="Times New Roman"/>
                        </a:rPr>
                        <a:t>Roll Number : 2420030711</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7970886" y="4637879"/>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3198918404"/>
              </p:ext>
            </p:extLst>
          </p:nvPr>
        </p:nvGraphicFramePr>
        <p:xfrm>
          <a:off x="-766288" y="4760924"/>
          <a:ext cx="5902325" cy="161036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a:t>
                      </a:r>
                      <a:r>
                        <a:rPr lang="en-IN" sz="1600" b="1">
                          <a:solidFill>
                            <a:srgbClr val="C00000"/>
                          </a:solidFill>
                          <a:latin typeface="Times New Roman" panose="02020603050405020304" pitchFamily="18" charset="0"/>
                          <a:cs typeface="Times New Roman" panose="02020603050405020304" pitchFamily="18" charset="0"/>
                        </a:rPr>
                        <a:t>Guidance of</a:t>
                      </a:r>
                    </a:p>
                    <a:p>
                      <a:pPr marL="0" marR="0" lvl="0" indent="0" algn="l" defTabSz="914400" rtl="0" eaLnBrk="1" fontAlgn="auto" latinLnBrk="0" hangingPunct="1">
                        <a:lnSpc>
                          <a:spcPct val="100000"/>
                        </a:lnSpc>
                        <a:spcBef>
                          <a:spcPts val="200"/>
                        </a:spcBef>
                        <a:spcAft>
                          <a:spcPts val="0"/>
                        </a:spcAft>
                        <a:buClrTx/>
                        <a:buSzPts val="810"/>
                        <a:buFontTx/>
                        <a:buNone/>
                        <a:tabLst/>
                        <a:defRPr/>
                      </a:pPr>
                      <a:r>
                        <a:rPr lang="en-US" sz="1400" b="1">
                          <a:solidFill>
                            <a:schemeClr val="dk1"/>
                          </a:solidFill>
                          <a:latin typeface="Times New Roman" panose="02020603050405020304" pitchFamily="18" charset="0"/>
                          <a:ea typeface="Cambria"/>
                          <a:cs typeface="Times New Roman" panose="02020603050405020304" pitchFamily="18" charset="0"/>
                          <a:sym typeface="Cambria"/>
                        </a:rPr>
                        <a:t>Dr. Neelima Gogineni</a:t>
                      </a:r>
                    </a:p>
                    <a:p>
                      <a:pPr marL="0" marR="0" lvl="0" indent="0" algn="l" defTabSz="914400" rtl="0" eaLnBrk="1" fontAlgn="auto" latinLnBrk="0" hangingPunct="1">
                        <a:lnSpc>
                          <a:spcPct val="100000"/>
                        </a:lnSpc>
                        <a:spcBef>
                          <a:spcPts val="200"/>
                        </a:spcBef>
                        <a:spcAft>
                          <a:spcPts val="0"/>
                        </a:spcAft>
                        <a:buClrTx/>
                        <a:buSzPts val="810"/>
                        <a:buFontTx/>
                        <a:buNone/>
                        <a:tabLst/>
                        <a:defRPr/>
                      </a:pPr>
                      <a:r>
                        <a:rPr lang="en-US" sz="1400">
                          <a:solidFill>
                            <a:schemeClr val="dk1"/>
                          </a:solidFill>
                          <a:latin typeface="Times New Roman" panose="02020603050405020304" pitchFamily="18" charset="0"/>
                          <a:ea typeface="Cambria"/>
                          <a:cs typeface="Times New Roman" panose="02020603050405020304" pitchFamily="18" charset="0"/>
                          <a:sym typeface="Cambria"/>
                        </a:rPr>
                        <a:t>Associate Professor, </a:t>
                      </a:r>
                    </a:p>
                    <a:p>
                      <a:pPr marL="0" indent="0" algn="l">
                        <a:lnSpc>
                          <a:spcPct val="100000"/>
                        </a:lnSpc>
                        <a:spcBef>
                          <a:spcPts val="200"/>
                        </a:spcBef>
                        <a:buSzPts val="810"/>
                        <a:buNone/>
                      </a:pPr>
                      <a:r>
                        <a:rPr lang="en-US" sz="1400" b="1">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a:solidFill>
                          <a:schemeClr val="dk1"/>
                        </a:solidFill>
                        <a:latin typeface="Times New Roman" panose="02020603050405020304" pitchFamily="18" charset="0"/>
                        <a:ea typeface="Cambria"/>
                        <a:cs typeface="Times New Roman" panose="02020603050405020304" pitchFamily="18" charset="0"/>
                        <a:sym typeface="Arial"/>
                      </a:endParaRPr>
                    </a:p>
                    <a:p>
                      <a:endParaRPr lang="en-IN" sz="1600"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sz="1400">
                <a:latin typeface="Times New Roman"/>
              </a:rPr>
              <a:t>24-09-2026</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sz="1200">
                <a:latin typeface="Times New Roman"/>
              </a:rPr>
              <a:t>SOA Project Review-2</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47146"/>
            <a:ext cx="10715625" cy="461665"/>
          </a:xfrm>
          <a:prstGeom prst="rect">
            <a:avLst/>
          </a:prstGeom>
          <a:noFill/>
        </p:spPr>
        <p:txBody>
          <a:bodyPr wrap="square">
            <a:spAutoFit/>
          </a:bodyPr>
          <a:lstStyle/>
          <a:p>
            <a:pPr algn="ctr">
              <a:defRPr/>
            </a:pPr>
            <a:r>
              <a:rPr sz="2400" dirty="0" err="1">
                <a:solidFill>
                  <a:schemeClr val="bg2"/>
                </a:solidFill>
                <a:latin typeface="Times New Roman"/>
              </a:rPr>
              <a:t>SmartAcad</a:t>
            </a:r>
            <a:r>
              <a:rPr sz="2400" dirty="0">
                <a:solidFill>
                  <a:schemeClr val="bg2"/>
                </a:solidFill>
                <a:latin typeface="Times New Roman"/>
              </a:rPr>
              <a:t> AI – An Assignment Tracking and Submission Assistant</a:t>
            </a: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a:t>
            </a:r>
            <a:r>
              <a:rPr lang="en-IN" sz="3200" b="1">
                <a:latin typeface="Times New Roman" panose="02020603050405020304" pitchFamily="18" charset="0"/>
                <a:cs typeface="Times New Roman" panose="02020603050405020304" pitchFamily="18" charset="0"/>
              </a:rPr>
              <a:t>Project Review-2</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741188" y="1375950"/>
            <a:ext cx="10709623" cy="2031325"/>
          </a:xfrm>
          <a:prstGeom prst="rect">
            <a:avLst/>
          </a:prstGeom>
          <a:noFill/>
        </p:spPr>
        <p:txBody>
          <a:bodyPr wrap="square">
            <a:spAutoFit/>
          </a:bodyPr>
          <a:lstStyle/>
          <a:p>
            <a:r>
              <a:rPr dirty="0" err="1">
                <a:latin typeface="Times New Roman"/>
              </a:rPr>
              <a:t>SmartAcad</a:t>
            </a:r>
            <a:r>
              <a:rPr dirty="0">
                <a:latin typeface="Times New Roman"/>
              </a:rPr>
              <a:t> AI is designed as a microservices-based academic management system that helps students manage assignments, deadlines, submissions, and academic progress in one centralized platform. The system includes user management, assignment management, AI-based task prioritization, notifications, submission tracking, progress analytics, and database/file storage. The AI assistant analyzes deadlines, priorities, and pending workload to suggest which assignments need attention first. Students can track upcoming and overdue assignments, while faculty can create assignments, set deadlines, and monitor submissions. The platform uses REST APIs for service communication and role-based access to protect student and faculty data.</a:t>
            </a:r>
            <a:endParaRPr lang="en-IN" b="1" dirty="0"/>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F86AA34D-1D77-72BD-01E1-5A6A0D9E1C6A}"/>
              </a:ext>
            </a:extLst>
          </p:cNvPr>
          <p:cNvSpPr txBox="1"/>
          <p:nvPr/>
        </p:nvSpPr>
        <p:spPr>
          <a:xfrm>
            <a:off x="4165599" y="311275"/>
            <a:ext cx="3820161" cy="923330"/>
          </a:xfrm>
          <a:prstGeom prst="rect">
            <a:avLst/>
          </a:prstGeom>
          <a:noFill/>
        </p:spPr>
        <p:txBody>
          <a:bodyPr wrap="square" rtlCol="0">
            <a:spAutoFit/>
          </a:bodyPr>
          <a:lstStyle/>
          <a:p>
            <a:r>
              <a:rPr sz="3000">
                <a:latin typeface="Times New Roman"/>
              </a:rPr>
              <a:t>Abstract</a:t>
            </a:r>
          </a:p>
        </p:txBody>
      </p:sp>
    </p:spTree>
    <p:extLst>
      <p:ext uri="{BB962C8B-B14F-4D97-AF65-F5344CB8AC3E}">
        <p14:creationId xmlns:p14="http://schemas.microsoft.com/office/powerpoint/2010/main" val="1843937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57E721F-A4A4-109E-9B94-CBDAAC70315B}"/>
              </a:ext>
            </a:extLst>
          </p:cNvPr>
          <p:cNvSpPr txBox="1"/>
          <p:nvPr/>
        </p:nvSpPr>
        <p:spPr>
          <a:xfrm>
            <a:off x="4738624" y="515630"/>
            <a:ext cx="2420791" cy="523220"/>
          </a:xfrm>
          <a:prstGeom prst="rect">
            <a:avLst/>
          </a:prstGeom>
          <a:noFill/>
        </p:spPr>
        <p:txBody>
          <a:bodyPr wrap="none" rtlCol="0">
            <a:spAutoFit/>
          </a:bodyPr>
          <a:lstStyle/>
          <a:p>
            <a:r>
              <a:rPr lang="en-IN" sz="2800" b="1" dirty="0">
                <a:latin typeface="Times New Roman" panose="02020603050405020304" pitchFamily="18" charset="0"/>
                <a:cs typeface="Times New Roman" panose="02020603050405020304" pitchFamily="18" charset="0"/>
              </a:rPr>
              <a:t>Project Design</a:t>
            </a:r>
          </a:p>
        </p:txBody>
      </p:sp>
      <p:pic>
        <p:nvPicPr>
          <p:cNvPr id="2" name="Picture 1">
            <a:extLst>
              <a:ext uri="{FF2B5EF4-FFF2-40B4-BE49-F238E27FC236}">
                <a16:creationId xmlns:a16="http://schemas.microsoft.com/office/drawing/2014/main" id="{A20A9EBB-05EA-2D74-CAA8-A87A6F85ED91}"/>
              </a:ext>
            </a:extLst>
          </p:cNvPr>
          <p:cNvPicPr>
            <a:picLocks noChangeAspect="1"/>
          </p:cNvPicPr>
          <p:nvPr/>
        </p:nvPicPr>
        <p:blipFill>
          <a:blip r:embed="rId2"/>
          <a:stretch>
            <a:fillRect/>
          </a:stretch>
        </p:blipFill>
        <p:spPr>
          <a:xfrm>
            <a:off x="2123767" y="1614679"/>
            <a:ext cx="7081684" cy="4451824"/>
          </a:xfrm>
          <a:prstGeom prst="rect">
            <a:avLst/>
          </a:prstGeom>
        </p:spPr>
      </p:pic>
    </p:spTree>
    <p:extLst>
      <p:ext uri="{BB962C8B-B14F-4D97-AF65-F5344CB8AC3E}">
        <p14:creationId xmlns:p14="http://schemas.microsoft.com/office/powerpoint/2010/main" val="3917782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4</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
        <p:nvSpPr>
          <p:cNvPr id="5" name="TextBox 4">
            <a:extLst>
              <a:ext uri="{FF2B5EF4-FFF2-40B4-BE49-F238E27FC236}">
                <a16:creationId xmlns:a16="http://schemas.microsoft.com/office/drawing/2014/main" id="{64140CBF-ADE3-4852-78E2-D93EF17DBBC4}"/>
              </a:ext>
            </a:extLst>
          </p:cNvPr>
          <p:cNvSpPr txBox="1"/>
          <p:nvPr/>
        </p:nvSpPr>
        <p:spPr>
          <a:xfrm>
            <a:off x="477520" y="1452321"/>
            <a:ext cx="10657840" cy="1077218"/>
          </a:xfrm>
          <a:prstGeom prst="rect">
            <a:avLst/>
          </a:prstGeom>
          <a:noFill/>
        </p:spPr>
        <p:txBody>
          <a:bodyPr wrap="square">
            <a:spAutoFit/>
          </a:bodyPr>
          <a:lstStyle/>
          <a:p>
            <a:pPr>
              <a:buNone/>
            </a:pPr>
            <a:r>
              <a:rPr sz="1600" dirty="0">
                <a:latin typeface="Times New Roman"/>
              </a:rPr>
              <a:t>1. User Layer</a:t>
            </a:r>
            <a:br>
              <a:rPr sz="1600" dirty="0"/>
            </a:br>
            <a:r>
              <a:rPr sz="1600" dirty="0">
                <a:latin typeface="Times New Roman"/>
              </a:rPr>
              <a:t>The system supports two main user roles:</a:t>
            </a:r>
            <a:br>
              <a:rPr sz="1600" dirty="0"/>
            </a:br>
            <a:r>
              <a:rPr sz="1600" dirty="0">
                <a:latin typeface="Times New Roman"/>
              </a:rPr>
              <a:t>• Student – manages assignments, views deadlines, tracks submissions, and monitors progress.</a:t>
            </a:r>
            <a:br>
              <a:rPr sz="1600" dirty="0"/>
            </a:br>
            <a:r>
              <a:rPr sz="1600" dirty="0">
                <a:latin typeface="Times New Roman"/>
              </a:rPr>
              <a:t>• Faculty – creates assignments, sets deadlines, and monitors student submissions.</a:t>
            </a:r>
          </a:p>
        </p:txBody>
      </p:sp>
      <p:sp>
        <p:nvSpPr>
          <p:cNvPr id="7" name="TextBox 6">
            <a:extLst>
              <a:ext uri="{FF2B5EF4-FFF2-40B4-BE49-F238E27FC236}">
                <a16:creationId xmlns:a16="http://schemas.microsoft.com/office/drawing/2014/main" id="{93154795-E789-4C99-0BFD-19C5B037226E}"/>
              </a:ext>
            </a:extLst>
          </p:cNvPr>
          <p:cNvSpPr txBox="1"/>
          <p:nvPr/>
        </p:nvSpPr>
        <p:spPr>
          <a:xfrm>
            <a:off x="477520" y="2814320"/>
            <a:ext cx="10972800" cy="2554545"/>
          </a:xfrm>
          <a:prstGeom prst="rect">
            <a:avLst/>
          </a:prstGeom>
          <a:noFill/>
        </p:spPr>
        <p:txBody>
          <a:bodyPr wrap="square" rtlCol="0">
            <a:spAutoFit/>
          </a:bodyPr>
          <a:lstStyle/>
          <a:p>
            <a:r>
              <a:rPr sz="1600" dirty="0">
                <a:latin typeface="Times New Roman"/>
              </a:rPr>
              <a:t>2. Frontend Layer</a:t>
            </a:r>
            <a:br>
              <a:rPr sz="1600" dirty="0"/>
            </a:br>
            <a:r>
              <a:rPr sz="1600" dirty="0">
                <a:latin typeface="Times New Roman"/>
              </a:rPr>
              <a:t>The dashboard provides interfaces for:</a:t>
            </a:r>
            <a:br>
              <a:rPr sz="1600" dirty="0"/>
            </a:br>
            <a:r>
              <a:rPr sz="1600" dirty="0">
                <a:latin typeface="Times New Roman"/>
              </a:rPr>
              <a:t>• User registration and login</a:t>
            </a:r>
            <a:br>
              <a:rPr sz="1600" dirty="0"/>
            </a:br>
            <a:r>
              <a:rPr sz="1600" dirty="0">
                <a:latin typeface="Times New Roman"/>
              </a:rPr>
              <a:t>• Viewing and managing assignments</a:t>
            </a:r>
            <a:br>
              <a:rPr sz="1600" dirty="0"/>
            </a:br>
            <a:r>
              <a:rPr sz="1600" dirty="0">
                <a:latin typeface="Times New Roman"/>
              </a:rPr>
              <a:t>• Checking deadlines and priorities</a:t>
            </a:r>
            <a:br>
              <a:rPr sz="1600" dirty="0"/>
            </a:br>
            <a:r>
              <a:rPr sz="1600" dirty="0">
                <a:latin typeface="Times New Roman"/>
              </a:rPr>
              <a:t>• Tracking submissions</a:t>
            </a:r>
            <a:br>
              <a:rPr sz="1600" dirty="0"/>
            </a:br>
            <a:r>
              <a:rPr sz="1600" dirty="0">
                <a:latin typeface="Times New Roman"/>
              </a:rPr>
              <a:t>• Viewing progress and analytics</a:t>
            </a:r>
            <a:br>
              <a:rPr sz="1600" dirty="0"/>
            </a:br>
            <a:r>
              <a:rPr sz="1600" dirty="0">
                <a:latin typeface="Times New Roman"/>
              </a:rPr>
              <a:t>• Receiving reminders and alerts</a:t>
            </a:r>
            <a:br>
              <a:rPr sz="1600" dirty="0"/>
            </a:br>
            <a:r>
              <a:rPr sz="1600" dirty="0">
                <a:latin typeface="Times New Roman"/>
              </a:rPr>
              <a:t>• Uploading assignment/submission files</a:t>
            </a:r>
            <a:br>
              <a:rPr sz="1600" dirty="0"/>
            </a:br>
            <a:r>
              <a:rPr sz="1600" dirty="0">
                <a:latin typeface="Times New Roman"/>
              </a:rPr>
              <a:t>The frontend communicates with backend services through REST APIs.</a:t>
            </a:r>
          </a:p>
        </p:txBody>
      </p:sp>
      <p:sp>
        <p:nvSpPr>
          <p:cNvPr id="3" name="TextBox 2">
            <a:extLst>
              <a:ext uri="{FF2B5EF4-FFF2-40B4-BE49-F238E27FC236}">
                <a16:creationId xmlns:a16="http://schemas.microsoft.com/office/drawing/2014/main" id="{676A3E38-4184-9EC8-E40E-3ED7553A731D}"/>
              </a:ext>
            </a:extLst>
          </p:cNvPr>
          <p:cNvSpPr txBox="1"/>
          <p:nvPr/>
        </p:nvSpPr>
        <p:spPr>
          <a:xfrm>
            <a:off x="2871019" y="776748"/>
            <a:ext cx="6272981" cy="369332"/>
          </a:xfrm>
          <a:prstGeom prst="rect">
            <a:avLst/>
          </a:prstGeom>
          <a:noFill/>
        </p:spPr>
        <p:txBody>
          <a:bodyPr wrap="square">
            <a:spAutoFit/>
          </a:bodyPr>
          <a:lstStyle/>
          <a:p>
            <a:pPr algn="ctr"/>
            <a:r>
              <a:rPr lang="en-IN" b="1" dirty="0"/>
              <a:t>architecture and design</a:t>
            </a:r>
          </a:p>
        </p:txBody>
      </p:sp>
    </p:spTree>
    <p:extLst>
      <p:ext uri="{BB962C8B-B14F-4D97-AF65-F5344CB8AC3E}">
        <p14:creationId xmlns:p14="http://schemas.microsoft.com/office/powerpoint/2010/main" val="3029277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9C011-0679-E4FA-55BC-0F515C97BB16}"/>
            </a:ext>
          </a:extLst>
        </p:cNvPr>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E34DFD35-360C-499C-ABA5-A0AC09428646}"/>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FFEC5305-602B-E88F-1B12-EE862ABCD69B}"/>
              </a:ext>
            </a:extLst>
          </p:cNvPr>
          <p:cNvPicPr>
            <a:picLocks noChangeAspect="1"/>
          </p:cNvPicPr>
          <p:nvPr/>
        </p:nvPicPr>
        <p:blipFill>
          <a:blip r:embed="rId3"/>
          <a:stretch>
            <a:fillRect/>
          </a:stretch>
        </p:blipFill>
        <p:spPr>
          <a:xfrm>
            <a:off x="10249380" y="0"/>
            <a:ext cx="1942620" cy="622550"/>
          </a:xfrm>
          <a:prstGeom prst="rect">
            <a:avLst/>
          </a:prstGeom>
        </p:spPr>
      </p:pic>
      <p:sp>
        <p:nvSpPr>
          <p:cNvPr id="5" name="TextBox 4">
            <a:extLst>
              <a:ext uri="{FF2B5EF4-FFF2-40B4-BE49-F238E27FC236}">
                <a16:creationId xmlns:a16="http://schemas.microsoft.com/office/drawing/2014/main" id="{4B5C8324-804A-09AA-AE99-9FAFC4A4F4A1}"/>
              </a:ext>
            </a:extLst>
          </p:cNvPr>
          <p:cNvSpPr txBox="1"/>
          <p:nvPr/>
        </p:nvSpPr>
        <p:spPr>
          <a:xfrm>
            <a:off x="477520" y="857961"/>
            <a:ext cx="10657840" cy="584775"/>
          </a:xfrm>
          <a:prstGeom prst="rect">
            <a:avLst/>
          </a:prstGeom>
          <a:noFill/>
        </p:spPr>
        <p:txBody>
          <a:bodyPr wrap="square">
            <a:spAutoFit/>
          </a:bodyPr>
          <a:lstStyle/>
          <a:p>
            <a:r>
              <a:rPr sz="1600" dirty="0">
                <a:latin typeface="Times New Roman"/>
              </a:rPr>
              <a:t>3. API Gateway</a:t>
            </a:r>
            <a:br>
              <a:rPr sz="1600" dirty="0"/>
            </a:br>
            <a:r>
              <a:rPr sz="1600" dirty="0">
                <a:latin typeface="Times New Roman"/>
              </a:rPr>
              <a:t>Acts as the single entry point for frontend requests and routes requests to the required microservice.</a:t>
            </a:r>
          </a:p>
        </p:txBody>
      </p:sp>
      <p:sp>
        <p:nvSpPr>
          <p:cNvPr id="7" name="TextBox 6">
            <a:extLst>
              <a:ext uri="{FF2B5EF4-FFF2-40B4-BE49-F238E27FC236}">
                <a16:creationId xmlns:a16="http://schemas.microsoft.com/office/drawing/2014/main" id="{E66D6E5D-98E1-85D1-2F3F-2315A8B4F3C0}"/>
              </a:ext>
            </a:extLst>
          </p:cNvPr>
          <p:cNvSpPr txBox="1"/>
          <p:nvPr/>
        </p:nvSpPr>
        <p:spPr>
          <a:xfrm>
            <a:off x="477520" y="1574800"/>
            <a:ext cx="10972800" cy="2062103"/>
          </a:xfrm>
          <a:prstGeom prst="rect">
            <a:avLst/>
          </a:prstGeom>
          <a:noFill/>
        </p:spPr>
        <p:txBody>
          <a:bodyPr wrap="square" rtlCol="0">
            <a:spAutoFit/>
          </a:bodyPr>
          <a:lstStyle/>
          <a:p>
            <a:r>
              <a:rPr sz="1600" dirty="0">
                <a:latin typeface="Times New Roman"/>
              </a:rPr>
              <a:t>4. Microservices Layer</a:t>
            </a:r>
            <a:br>
              <a:rPr sz="1600" dirty="0"/>
            </a:br>
            <a:r>
              <a:rPr sz="1600" dirty="0">
                <a:latin typeface="Times New Roman"/>
              </a:rPr>
              <a:t>The system separates major functions into independent services:</a:t>
            </a:r>
            <a:br>
              <a:rPr sz="1600" dirty="0"/>
            </a:br>
            <a:r>
              <a:rPr sz="1600" dirty="0">
                <a:latin typeface="Times New Roman"/>
              </a:rPr>
              <a:t>A. User Management Service</a:t>
            </a:r>
            <a:br>
              <a:rPr sz="1600" dirty="0"/>
            </a:br>
            <a:r>
              <a:rPr sz="1600" dirty="0">
                <a:latin typeface="Times New Roman"/>
              </a:rPr>
              <a:t>B. Assignment Management Service</a:t>
            </a:r>
            <a:br>
              <a:rPr sz="1600" dirty="0"/>
            </a:br>
            <a:r>
              <a:rPr sz="1600" dirty="0">
                <a:latin typeface="Times New Roman"/>
              </a:rPr>
              <a:t>C. Submission Tracking Service</a:t>
            </a:r>
            <a:br>
              <a:rPr sz="1600" dirty="0"/>
            </a:br>
            <a:r>
              <a:rPr sz="1600" dirty="0">
                <a:latin typeface="Times New Roman"/>
              </a:rPr>
              <a:t>D. AI Assistant Service</a:t>
            </a:r>
            <a:br>
              <a:rPr sz="1600" dirty="0"/>
            </a:br>
            <a:r>
              <a:rPr sz="1600" dirty="0">
                <a:latin typeface="Times New Roman"/>
              </a:rPr>
              <a:t>E. Notification Service</a:t>
            </a:r>
            <a:br>
              <a:rPr sz="1600" dirty="0"/>
            </a:br>
            <a:r>
              <a:rPr sz="1600" dirty="0">
                <a:latin typeface="Times New Roman"/>
              </a:rPr>
              <a:t>F. Analytics &amp; Progress Service</a:t>
            </a:r>
          </a:p>
        </p:txBody>
      </p:sp>
      <p:sp>
        <p:nvSpPr>
          <p:cNvPr id="2" name="TextBox 1">
            <a:extLst>
              <a:ext uri="{FF2B5EF4-FFF2-40B4-BE49-F238E27FC236}">
                <a16:creationId xmlns:a16="http://schemas.microsoft.com/office/drawing/2014/main" id="{C118789A-0E9B-3027-FC35-26A6FA8AED7C}"/>
              </a:ext>
            </a:extLst>
          </p:cNvPr>
          <p:cNvSpPr txBox="1"/>
          <p:nvPr/>
        </p:nvSpPr>
        <p:spPr>
          <a:xfrm>
            <a:off x="477520" y="3636903"/>
            <a:ext cx="10972800" cy="830997"/>
          </a:xfrm>
          <a:prstGeom prst="rect">
            <a:avLst/>
          </a:prstGeom>
          <a:noFill/>
        </p:spPr>
        <p:txBody>
          <a:bodyPr wrap="square" rtlCol="0">
            <a:spAutoFit/>
          </a:bodyPr>
          <a:lstStyle/>
          <a:p>
            <a:r>
              <a:rPr sz="1600" dirty="0">
                <a:latin typeface="Times New Roman"/>
              </a:rPr>
              <a:t>5. Database &amp; File Storage</a:t>
            </a:r>
            <a:br>
              <a:rPr sz="1600" dirty="0"/>
            </a:br>
            <a:r>
              <a:rPr sz="1600" dirty="0">
                <a:latin typeface="Times New Roman"/>
              </a:rPr>
              <a:t>Stores user details, assignments, submissions, notifications, progress information, and assignment/submission files.</a:t>
            </a:r>
            <a:br>
              <a:rPr sz="1600" dirty="0"/>
            </a:br>
            <a:r>
              <a:rPr sz="1600" dirty="0">
                <a:latin typeface="Times New Roman"/>
              </a:rPr>
              <a:t>The project specifies MySQL / MongoDB for data storage and cloud storage for files.</a:t>
            </a:r>
          </a:p>
        </p:txBody>
      </p:sp>
      <p:sp>
        <p:nvSpPr>
          <p:cNvPr id="3" name="TextBox 2">
            <a:extLst>
              <a:ext uri="{FF2B5EF4-FFF2-40B4-BE49-F238E27FC236}">
                <a16:creationId xmlns:a16="http://schemas.microsoft.com/office/drawing/2014/main" id="{55CC0F08-69C1-A12B-2511-5703DE0AD3D8}"/>
              </a:ext>
            </a:extLst>
          </p:cNvPr>
          <p:cNvSpPr txBox="1"/>
          <p:nvPr/>
        </p:nvSpPr>
        <p:spPr>
          <a:xfrm>
            <a:off x="550672" y="4673461"/>
            <a:ext cx="10231120" cy="1077218"/>
          </a:xfrm>
          <a:prstGeom prst="rect">
            <a:avLst/>
          </a:prstGeom>
          <a:noFill/>
        </p:spPr>
        <p:txBody>
          <a:bodyPr wrap="square" rtlCol="0">
            <a:spAutoFit/>
          </a:bodyPr>
          <a:lstStyle/>
          <a:p>
            <a:r>
              <a:rPr sz="1600" dirty="0">
                <a:latin typeface="Times New Roman"/>
              </a:rPr>
              <a:t>6. API Communication</a:t>
            </a:r>
            <a:br>
              <a:rPr sz="1600" dirty="0"/>
            </a:br>
            <a:r>
              <a:rPr sz="1600" dirty="0">
                <a:latin typeface="Times New Roman"/>
              </a:rPr>
              <a:t>REST APIs are used for communication between the frontend, API Gateway, and microservices.</a:t>
            </a:r>
            <a:br>
              <a:rPr sz="1600" dirty="0"/>
            </a:br>
            <a:r>
              <a:rPr sz="1600" dirty="0">
                <a:latin typeface="Times New Roman"/>
              </a:rPr>
              <a:t>API flow:</a:t>
            </a:r>
            <a:br>
              <a:rPr sz="1600" dirty="0"/>
            </a:br>
            <a:r>
              <a:rPr sz="1600" dirty="0">
                <a:latin typeface="Times New Roman"/>
              </a:rPr>
              <a:t>Frontend → API Gateway → Microservice → Database/AI → Response</a:t>
            </a:r>
          </a:p>
        </p:txBody>
      </p:sp>
    </p:spTree>
    <p:extLst>
      <p:ext uri="{BB962C8B-B14F-4D97-AF65-F5344CB8AC3E}">
        <p14:creationId xmlns:p14="http://schemas.microsoft.com/office/powerpoint/2010/main" val="2459380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579120" y="723771"/>
            <a:ext cx="8595360" cy="1569660"/>
          </a:xfrm>
          <a:prstGeom prst="rect">
            <a:avLst/>
          </a:prstGeom>
          <a:noFill/>
        </p:spPr>
        <p:txBody>
          <a:bodyPr wrap="square">
            <a:spAutoFit/>
          </a:bodyPr>
          <a:lstStyle/>
          <a:p>
            <a:r>
              <a:rPr sz="1600" dirty="0">
                <a:latin typeface="Times New Roman"/>
              </a:rPr>
              <a:t>7. Security Layer</a:t>
            </a:r>
            <a:br>
              <a:rPr sz="1600" dirty="0"/>
            </a:br>
            <a:r>
              <a:rPr sz="1600" dirty="0">
                <a:latin typeface="Times New Roman"/>
              </a:rPr>
              <a:t>Security is supported through:</a:t>
            </a:r>
            <a:br>
              <a:rPr sz="1600" dirty="0"/>
            </a:br>
            <a:r>
              <a:rPr sz="1600" dirty="0">
                <a:latin typeface="Times New Roman"/>
              </a:rPr>
              <a:t>• Authentication</a:t>
            </a:r>
            <a:br>
              <a:rPr sz="1600" dirty="0"/>
            </a:br>
            <a:r>
              <a:rPr sz="1600" dirty="0">
                <a:latin typeface="Times New Roman"/>
              </a:rPr>
              <a:t>• Role-based access</a:t>
            </a:r>
            <a:br>
              <a:rPr sz="1600" dirty="0"/>
            </a:br>
            <a:r>
              <a:rPr sz="1600" dirty="0">
                <a:latin typeface="Times New Roman"/>
              </a:rPr>
              <a:t>• Protected student and faculty data</a:t>
            </a:r>
            <a:br>
              <a:rPr sz="1600" dirty="0"/>
            </a:br>
            <a:r>
              <a:rPr sz="1600" dirty="0">
                <a:latin typeface="Times New Roman"/>
              </a:rPr>
              <a:t>• API authorization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461D7D88-152F-11DB-D185-50AFA648DB19}"/>
              </a:ext>
            </a:extLst>
          </p:cNvPr>
          <p:cNvSpPr txBox="1"/>
          <p:nvPr/>
        </p:nvSpPr>
        <p:spPr>
          <a:xfrm>
            <a:off x="579120" y="2629759"/>
            <a:ext cx="8524240" cy="2062103"/>
          </a:xfrm>
          <a:prstGeom prst="rect">
            <a:avLst/>
          </a:prstGeom>
          <a:noFill/>
        </p:spPr>
        <p:txBody>
          <a:bodyPr wrap="square" rtlCol="0">
            <a:spAutoFit/>
          </a:bodyPr>
          <a:lstStyle/>
          <a:p>
            <a:r>
              <a:rPr sz="1600" dirty="0">
                <a:latin typeface="Times New Roman"/>
              </a:rPr>
              <a:t>8. AI Assistant Design</a:t>
            </a:r>
            <a:br>
              <a:rPr sz="1600" dirty="0"/>
            </a:br>
            <a:r>
              <a:rPr sz="1600" dirty="0">
                <a:latin typeface="Times New Roman"/>
              </a:rPr>
              <a:t>The AI component analyzes:</a:t>
            </a:r>
            <a:br>
              <a:rPr sz="1600" dirty="0"/>
            </a:br>
            <a:r>
              <a:rPr sz="1600" dirty="0">
                <a:latin typeface="Times New Roman"/>
              </a:rPr>
              <a:t>• Assignment deadlines</a:t>
            </a:r>
            <a:br>
              <a:rPr sz="1600" dirty="0"/>
            </a:br>
            <a:r>
              <a:rPr sz="1600" dirty="0">
                <a:latin typeface="Times New Roman"/>
              </a:rPr>
              <a:t>• Assignment priorities</a:t>
            </a:r>
            <a:br>
              <a:rPr sz="1600" dirty="0"/>
            </a:br>
            <a:r>
              <a:rPr sz="1600" dirty="0">
                <a:latin typeface="Times New Roman"/>
              </a:rPr>
              <a:t>• Pending assignments</a:t>
            </a:r>
            <a:br>
              <a:rPr sz="1600" dirty="0"/>
            </a:br>
            <a:r>
              <a:rPr sz="1600" dirty="0">
                <a:latin typeface="Times New Roman"/>
              </a:rPr>
              <a:t>• Student workload</a:t>
            </a:r>
            <a:br>
              <a:rPr sz="1600" dirty="0"/>
            </a:br>
            <a:r>
              <a:rPr sz="1600" dirty="0">
                <a:latin typeface="Times New Roman"/>
              </a:rPr>
              <a:t>• Submission status</a:t>
            </a:r>
            <a:br>
              <a:rPr sz="1600" dirty="0"/>
            </a:br>
            <a:r>
              <a:rPr sz="1600" dirty="0">
                <a:latin typeface="Times New Roman"/>
              </a:rPr>
              <a:t>It uses this information to prioritize important tasks and provide useful recommendations.</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359650" y="1082780"/>
            <a:ext cx="7544830" cy="4031873"/>
          </a:xfrm>
          <a:prstGeom prst="rect">
            <a:avLst/>
          </a:prstGeom>
          <a:noFill/>
        </p:spPr>
        <p:txBody>
          <a:bodyPr wrap="square">
            <a:spAutoFit/>
          </a:bodyPr>
          <a:lstStyle/>
          <a:p>
            <a:r>
              <a:rPr sz="1600" dirty="0" err="1">
                <a:latin typeface="Times New Roman"/>
              </a:rPr>
              <a:t>SmartAcad</a:t>
            </a:r>
            <a:r>
              <a:rPr sz="1600" dirty="0">
                <a:latin typeface="Times New Roman"/>
              </a:rPr>
              <a:t> AI follows a modular microservices-based development approach. The system is divided into independent services so that each major function can be developed, tested, and maintained separately.</a:t>
            </a:r>
            <a:br>
              <a:rPr sz="1600" dirty="0"/>
            </a:br>
            <a:br>
              <a:rPr sz="1600" dirty="0"/>
            </a:br>
            <a:r>
              <a:rPr sz="1600" dirty="0">
                <a:latin typeface="Times New Roman"/>
              </a:rPr>
              <a:t>Key development stages:</a:t>
            </a:r>
            <a:br>
              <a:rPr sz="1600" dirty="0"/>
            </a:br>
            <a:br>
              <a:rPr sz="1600" dirty="0"/>
            </a:br>
            <a:r>
              <a:rPr sz="1600" dirty="0">
                <a:latin typeface="Times New Roman"/>
              </a:rPr>
              <a:t>Requirement Analysis: Identify assignment-management problems, user roles, and system requirements.</a:t>
            </a:r>
            <a:br>
              <a:rPr sz="1600" dirty="0"/>
            </a:br>
            <a:r>
              <a:rPr sz="1600" dirty="0">
                <a:latin typeface="Times New Roman"/>
              </a:rPr>
              <a:t>System Design: Design the microservices, database structure, REST APIs, and dashboard.</a:t>
            </a:r>
            <a:br>
              <a:rPr sz="1600" dirty="0"/>
            </a:br>
            <a:r>
              <a:rPr sz="1600" dirty="0">
                <a:latin typeface="Times New Roman"/>
              </a:rPr>
              <a:t>Backend Development: Develop the application logic and APIs using Java and Spring Boot.</a:t>
            </a:r>
            <a:br>
              <a:rPr sz="1600" dirty="0"/>
            </a:br>
            <a:r>
              <a:rPr sz="1600" dirty="0">
                <a:latin typeface="Times New Roman"/>
              </a:rPr>
              <a:t>Frontend Development: Build the dashboard for assignments, submissions, reminders, and progress.</a:t>
            </a:r>
            <a:br>
              <a:rPr sz="1600" dirty="0"/>
            </a:br>
            <a:r>
              <a:rPr sz="1600" dirty="0">
                <a:latin typeface="Times New Roman"/>
              </a:rPr>
              <a:t>Service Integration: Connect the microservices through REST APIs and integrate the AI assistant.</a:t>
            </a:r>
            <a:br>
              <a:rPr sz="1600" dirty="0"/>
            </a:br>
            <a:r>
              <a:rPr sz="1600" dirty="0">
                <a:latin typeface="Times New Roman"/>
              </a:rPr>
              <a:t>Testing &amp; Security: Test the services and apply authentication and role-based access.</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911823C-8C0A-AB6C-19AB-3B871B39BD71}"/>
              </a:ext>
            </a:extLst>
          </p:cNvPr>
          <p:cNvSpPr txBox="1"/>
          <p:nvPr/>
        </p:nvSpPr>
        <p:spPr>
          <a:xfrm>
            <a:off x="2814320" y="360940"/>
            <a:ext cx="9083040" cy="523220"/>
          </a:xfrm>
          <a:prstGeom prst="rect">
            <a:avLst/>
          </a:prstGeom>
          <a:noFill/>
        </p:spPr>
        <p:txBody>
          <a:bodyPr wrap="square" rtlCol="0">
            <a:spAutoFit/>
          </a:bodyPr>
          <a:lstStyle/>
          <a:p>
            <a:r>
              <a:rPr sz="2800">
                <a:latin typeface="Times New Roman"/>
              </a:rPr>
              <a:t>Methodology Adopted – SmartAcad AI</a:t>
            </a:r>
          </a:p>
        </p:txBody>
      </p:sp>
      <p:pic>
        <p:nvPicPr>
          <p:cNvPr id="6" name="Picture 5">
            <a:extLst>
              <a:ext uri="{FF2B5EF4-FFF2-40B4-BE49-F238E27FC236}">
                <a16:creationId xmlns:a16="http://schemas.microsoft.com/office/drawing/2014/main" id="{52E873A2-C0F9-7EB7-413F-A15FE813AFC9}"/>
              </a:ext>
            </a:extLst>
          </p:cNvPr>
          <p:cNvPicPr>
            <a:picLocks noChangeAspect="1"/>
          </p:cNvPicPr>
          <p:nvPr/>
        </p:nvPicPr>
        <p:blipFill>
          <a:blip r:embed="rId3"/>
          <a:stretch>
            <a:fillRect/>
          </a:stretch>
        </p:blipFill>
        <p:spPr>
          <a:xfrm>
            <a:off x="7904480" y="1600575"/>
            <a:ext cx="3886537" cy="2834886"/>
          </a:xfrm>
          <a:prstGeom prst="rect">
            <a:avLst/>
          </a:prstGeom>
        </p:spPr>
      </p:pic>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EE0FF-348B-350C-F52C-19DF40D6744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FCCDA24-973C-2C7E-6901-19FAB02353A3}"/>
              </a:ext>
            </a:extLst>
          </p:cNvPr>
          <p:cNvSpPr txBox="1"/>
          <p:nvPr/>
        </p:nvSpPr>
        <p:spPr>
          <a:xfrm>
            <a:off x="359650" y="1082780"/>
            <a:ext cx="7544830" cy="4031873"/>
          </a:xfrm>
          <a:prstGeom prst="rect">
            <a:avLst/>
          </a:prstGeom>
          <a:noFill/>
        </p:spPr>
        <p:txBody>
          <a:bodyPr wrap="square">
            <a:spAutoFit/>
          </a:bodyPr>
          <a:lstStyle/>
          <a:p>
            <a:r>
              <a:rPr sz="1600" dirty="0">
                <a:latin typeface="Times New Roman"/>
              </a:rPr>
              <a:t>AI Integration:</a:t>
            </a:r>
            <a:br>
              <a:rPr sz="1600" dirty="0"/>
            </a:br>
            <a:r>
              <a:rPr sz="1600" dirty="0">
                <a:latin typeface="Times New Roman"/>
              </a:rPr>
              <a:t>The AI assistant receives assignment-related information such as deadlines, priorities, pending workload, and submission status. It analyzes this information to support task prioritization and personalized recommendations.</a:t>
            </a:r>
            <a:br>
              <a:rPr sz="1600" dirty="0"/>
            </a:br>
            <a:br>
              <a:rPr sz="1600" dirty="0"/>
            </a:br>
            <a:r>
              <a:rPr sz="1600" dirty="0">
                <a:latin typeface="Times New Roman"/>
              </a:rPr>
              <a:t>System Integration:</a:t>
            </a:r>
            <a:br>
              <a:rPr sz="1600" dirty="0"/>
            </a:br>
            <a:r>
              <a:rPr sz="1600" dirty="0">
                <a:latin typeface="Times New Roman"/>
              </a:rPr>
              <a:t>Microservices communicate through REST APIs, while the dashboard displays assignments, deadlines, reminders, submissions, and progress.</a:t>
            </a:r>
            <a:br>
              <a:rPr sz="1600" dirty="0"/>
            </a:br>
            <a:br>
              <a:rPr sz="1600" dirty="0"/>
            </a:br>
            <a:r>
              <a:rPr sz="1600" dirty="0">
                <a:latin typeface="Times New Roman"/>
              </a:rPr>
              <a:t>Testing:</a:t>
            </a:r>
            <a:br>
              <a:rPr sz="1600" dirty="0"/>
            </a:br>
            <a:r>
              <a:rPr sz="1600" dirty="0">
                <a:latin typeface="Times New Roman"/>
              </a:rPr>
              <a:t>Individual services, APIs, assignment workflows, submission tracking, and notification functions can be tested independently.</a:t>
            </a:r>
            <a:br>
              <a:rPr sz="1600" dirty="0"/>
            </a:br>
            <a:br>
              <a:rPr sz="1600" dirty="0"/>
            </a:br>
            <a:r>
              <a:rPr sz="1600" dirty="0">
                <a:latin typeface="Times New Roman"/>
              </a:rPr>
              <a:t>Deployment:</a:t>
            </a:r>
            <a:br>
              <a:rPr sz="1600" dirty="0"/>
            </a:br>
            <a:r>
              <a:rPr sz="1600" dirty="0">
                <a:latin typeface="Times New Roman"/>
              </a:rPr>
              <a:t>The microservices design allows individual services to be maintained and expanded without tightly coupling the complete application.</a:t>
            </a:r>
          </a:p>
        </p:txBody>
      </p:sp>
      <p:pic>
        <p:nvPicPr>
          <p:cNvPr id="3" name="Picture 2">
            <a:extLst>
              <a:ext uri="{FF2B5EF4-FFF2-40B4-BE49-F238E27FC236}">
                <a16:creationId xmlns:a16="http://schemas.microsoft.com/office/drawing/2014/main" id="{37BA170E-440D-7754-2B8F-20452AB5F34C}"/>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DE3B2760-CC87-96E5-1538-1D31E78014E3}"/>
              </a:ext>
            </a:extLst>
          </p:cNvPr>
          <p:cNvSpPr txBox="1"/>
          <p:nvPr/>
        </p:nvSpPr>
        <p:spPr>
          <a:xfrm>
            <a:off x="2814320" y="360940"/>
            <a:ext cx="6299200" cy="523220"/>
          </a:xfrm>
          <a:prstGeom prst="rect">
            <a:avLst/>
          </a:prstGeom>
          <a:noFill/>
        </p:spPr>
        <p:txBody>
          <a:bodyPr wrap="square" rtlCol="0">
            <a:spAutoFit/>
          </a:bodyPr>
          <a:lstStyle/>
          <a:p>
            <a:r>
              <a:rPr sz="2800">
                <a:latin typeface="Times New Roman"/>
              </a:rPr>
              <a:t>AI Integration, Testing &amp; Deployment</a:t>
            </a:r>
          </a:p>
        </p:txBody>
      </p:sp>
      <p:pic>
        <p:nvPicPr>
          <p:cNvPr id="7" name="Picture 6">
            <a:extLst>
              <a:ext uri="{FF2B5EF4-FFF2-40B4-BE49-F238E27FC236}">
                <a16:creationId xmlns:a16="http://schemas.microsoft.com/office/drawing/2014/main" id="{7C94F871-3459-0098-90D8-B24EDF6C1079}"/>
              </a:ext>
            </a:extLst>
          </p:cNvPr>
          <p:cNvPicPr>
            <a:picLocks noChangeAspect="1"/>
          </p:cNvPicPr>
          <p:nvPr/>
        </p:nvPicPr>
        <p:blipFill>
          <a:blip r:embed="rId3"/>
          <a:stretch>
            <a:fillRect/>
          </a:stretch>
        </p:blipFill>
        <p:spPr>
          <a:xfrm>
            <a:off x="8016071" y="1509491"/>
            <a:ext cx="3901778" cy="3543607"/>
          </a:xfrm>
          <a:prstGeom prst="rect">
            <a:avLst/>
          </a:prstGeom>
        </p:spPr>
      </p:pic>
    </p:spTree>
    <p:extLst>
      <p:ext uri="{BB962C8B-B14F-4D97-AF65-F5344CB8AC3E}">
        <p14:creationId xmlns:p14="http://schemas.microsoft.com/office/powerpoint/2010/main" val="3541046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0A6C318-F062-CBE7-CD2E-1846E44246B5}"/>
              </a:ext>
            </a:extLst>
          </p:cNvPr>
          <p:cNvPicPr>
            <a:picLocks noChangeAspect="1"/>
          </p:cNvPicPr>
          <p:nvPr/>
        </p:nvPicPr>
        <p:blipFill>
          <a:blip r:embed="rId2"/>
          <a:stretch>
            <a:fillRect/>
          </a:stretch>
        </p:blipFill>
        <p:spPr>
          <a:xfrm>
            <a:off x="0" y="0"/>
            <a:ext cx="12079224" cy="6858000"/>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TotalTime>
  <Words>779</Words>
  <Application>Microsoft Office PowerPoint</Application>
  <PresentationFormat>Widescreen</PresentationFormat>
  <Paragraphs>42</Paragraphs>
  <Slides>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Haswanthi Madala</cp:lastModifiedBy>
  <cp:revision>36</cp:revision>
  <dcterms:created xsi:type="dcterms:W3CDTF">2026-08-08T06:33:56Z</dcterms:created>
  <dcterms:modified xsi:type="dcterms:W3CDTF">2026-09-24T09:04:16Z</dcterms:modified>
</cp:coreProperties>
</file>