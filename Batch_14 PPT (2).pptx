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wanthi Madala" userId="49cd92076faabe43" providerId="LiveId" clId="{5C98A17E-5BA9-4042-BED8-B144F50F83FC}"/>
    <pc:docChg chg="custSel modSld">
      <pc:chgData name="Haswanthi Madala" userId="49cd92076faabe43" providerId="LiveId" clId="{5C98A17E-5BA9-4042-BED8-B144F50F83FC}" dt="2026-08-20T08:33:24.382" v="11" actId="14100"/>
      <pc:docMkLst>
        <pc:docMk/>
      </pc:docMkLst>
      <pc:sldChg chg="modSp mod">
        <pc:chgData name="Haswanthi Madala" userId="49cd92076faabe43" providerId="LiveId" clId="{5C98A17E-5BA9-4042-BED8-B144F50F83FC}" dt="2026-08-20T08:33:24.382" v="11" actId="14100"/>
        <pc:sldMkLst>
          <pc:docMk/>
          <pc:sldMk cId="1843937772" sldId="257"/>
        </pc:sldMkLst>
        <pc:spChg chg="mod">
          <ac:chgData name="Haswanthi Madala" userId="49cd92076faabe43" providerId="LiveId" clId="{5C98A17E-5BA9-4042-BED8-B144F50F83FC}" dt="2026-08-20T08:33:24.382" v="11" actId="14100"/>
          <ac:spMkLst>
            <pc:docMk/>
            <pc:sldMk cId="1843937772" sldId="257"/>
            <ac:spMk id="4" creationId="{7595BCA9-A4D5-CD72-7856-907812EEFE6E}"/>
          </ac:spMkLst>
        </pc:spChg>
      </pc:sldChg>
      <pc:sldChg chg="addSp delSp modSp mod">
        <pc:chgData name="Haswanthi Madala" userId="49cd92076faabe43" providerId="LiveId" clId="{5C98A17E-5BA9-4042-BED8-B144F50F83FC}" dt="2026-08-20T08:19:19.193" v="8" actId="14100"/>
        <pc:sldMkLst>
          <pc:docMk/>
          <pc:sldMk cId="4118855268" sldId="260"/>
        </pc:sldMkLst>
        <pc:picChg chg="add mod">
          <ac:chgData name="Haswanthi Madala" userId="49cd92076faabe43" providerId="LiveId" clId="{5C98A17E-5BA9-4042-BED8-B144F50F83FC}" dt="2026-08-20T08:19:19.193" v="8" actId="14100"/>
          <ac:picMkLst>
            <pc:docMk/>
            <pc:sldMk cId="4118855268" sldId="260"/>
            <ac:picMk id="3" creationId="{613E6A0D-DFC7-FFB4-8235-134631DEEF9D}"/>
          </ac:picMkLst>
        </pc:picChg>
        <pc:picChg chg="del">
          <ac:chgData name="Haswanthi Madala" userId="49cd92076faabe43" providerId="LiveId" clId="{5C98A17E-5BA9-4042-BED8-B144F50F83FC}" dt="2026-08-20T08:19:07.068" v="3" actId="478"/>
          <ac:picMkLst>
            <pc:docMk/>
            <pc:sldMk cId="4118855268" sldId="260"/>
            <ac:picMk id="6" creationId="{C338D68B-187B-C15E-326D-08379C2E63FC}"/>
          </ac:picMkLst>
        </pc:picChg>
      </pc:sldChg>
      <pc:sldChg chg="modSp mod">
        <pc:chgData name="Haswanthi Madala" userId="49cd92076faabe43" providerId="LiveId" clId="{5C98A17E-5BA9-4042-BED8-B144F50F83FC}" dt="2026-08-20T08:12:23.858" v="0" actId="1076"/>
        <pc:sldMkLst>
          <pc:docMk/>
          <pc:sldMk cId="2247602601" sldId="262"/>
        </pc:sldMkLst>
        <pc:spChg chg="mod">
          <ac:chgData name="Haswanthi Madala" userId="49cd92076faabe43" providerId="LiveId" clId="{5C98A17E-5BA9-4042-BED8-B144F50F83FC}" dt="2026-08-20T08:12:23.858" v="0" actId="1076"/>
          <ac:spMkLst>
            <pc:docMk/>
            <pc:sldMk cId="2247602601" sldId="262"/>
            <ac:spMk id="15" creationId="{56D85E72-0438-DD00-C8F2-E531AEE5719E}"/>
          </ac:spMkLst>
        </pc:spChg>
      </pc:sldChg>
      <pc:sldChg chg="delSp mod">
        <pc:chgData name="Haswanthi Madala" userId="49cd92076faabe43" providerId="LiveId" clId="{5C98A17E-5BA9-4042-BED8-B144F50F83FC}" dt="2026-08-20T08:17:38.986" v="2" actId="478"/>
        <pc:sldMkLst>
          <pc:docMk/>
          <pc:sldMk cId="2747969496" sldId="707"/>
        </pc:sldMkLst>
        <pc:spChg chg="del">
          <ac:chgData name="Haswanthi Madala" userId="49cd92076faabe43" providerId="LiveId" clId="{5C98A17E-5BA9-4042-BED8-B144F50F83FC}" dt="2026-08-20T08:17:35.768" v="1" actId="478"/>
          <ac:spMkLst>
            <pc:docMk/>
            <pc:sldMk cId="2747969496" sldId="707"/>
            <ac:spMk id="3" creationId="{B6FAE64B-DFA9-4528-D74E-DAEA88C008D5}"/>
          </ac:spMkLst>
        </pc:spChg>
        <pc:spChg chg="del">
          <ac:chgData name="Haswanthi Madala" userId="49cd92076faabe43" providerId="LiveId" clId="{5C98A17E-5BA9-4042-BED8-B144F50F83FC}" dt="2026-08-20T08:17:38.986" v="2" actId="478"/>
          <ac:spMkLst>
            <pc:docMk/>
            <pc:sldMk cId="2747969496" sldId="707"/>
            <ac:spMk id="4" creationId="{41222DE7-17C6-1B7E-71C0-2347B0AA2C6B}"/>
          </ac:spMkLst>
        </pc:spChg>
      </pc:sldChg>
      <pc:sldChg chg="delSp mod">
        <pc:chgData name="Haswanthi Madala" userId="49cd92076faabe43" providerId="LiveId" clId="{5C98A17E-5BA9-4042-BED8-B144F50F83FC}" dt="2026-08-20T08:22:45.426" v="10" actId="478"/>
        <pc:sldMkLst>
          <pc:docMk/>
          <pc:sldMk cId="3029277067" sldId="902"/>
        </pc:sldMkLst>
        <pc:spChg chg="del">
          <ac:chgData name="Haswanthi Madala" userId="49cd92076faabe43" providerId="LiveId" clId="{5C98A17E-5BA9-4042-BED8-B144F50F83FC}" dt="2026-08-20T08:22:42.155" v="9" actId="478"/>
          <ac:spMkLst>
            <pc:docMk/>
            <pc:sldMk cId="3029277067" sldId="902"/>
            <ac:spMk id="8" creationId="{A0FDE360-66C4-26CA-5DB9-8E99C2685BE0}"/>
          </ac:spMkLst>
        </pc:spChg>
        <pc:spChg chg="del">
          <ac:chgData name="Haswanthi Madala" userId="49cd92076faabe43" providerId="LiveId" clId="{5C98A17E-5BA9-4042-BED8-B144F50F83FC}" dt="2026-08-20T08:22:45.426" v="10" actId="478"/>
          <ac:spMkLst>
            <pc:docMk/>
            <pc:sldMk cId="3029277067" sldId="902"/>
            <ac:spMk id="9" creationId="{0F095753-622E-2BA7-9495-60F9B6E57FD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234382991"/>
              </p:ext>
            </p:extLst>
          </p:nvPr>
        </p:nvGraphicFramePr>
        <p:xfrm>
          <a:off x="8193271" y="4898509"/>
          <a:ext cx="3702050" cy="12192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a:t>
                      </a:r>
                      <a:r>
                        <a:rPr lang="en-IN" sz="1400" b="1" kern="1200" dirty="0">
                          <a:solidFill>
                            <a:schemeClr val="dk1"/>
                          </a:solidFill>
                          <a:latin typeface="Times New Roman" panose="02020603050405020304" pitchFamily="18" charset="0"/>
                          <a:ea typeface="Cambria"/>
                          <a:cs typeface="Times New Roman" panose="02020603050405020304" pitchFamily="18" charset="0"/>
                        </a:rPr>
                        <a:t>                                        Roll Number</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M. Haswanthi                            2420030143</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 Akshitha                                2420030146</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 </a:t>
                      </a:r>
                      <a:r>
                        <a:rPr lang="en-IN" sz="1400" b="1" kern="1200" dirty="0" err="1">
                          <a:solidFill>
                            <a:schemeClr val="dk1"/>
                          </a:solidFill>
                          <a:latin typeface="Times New Roman" panose="02020603050405020304" pitchFamily="18" charset="0"/>
                          <a:ea typeface="Cambria"/>
                          <a:cs typeface="Times New Roman" panose="02020603050405020304" pitchFamily="18" charset="0"/>
                        </a:rPr>
                        <a:t>Sreevardhan</a:t>
                      </a:r>
                      <a:r>
                        <a:rPr lang="en-IN" sz="1400" b="1" kern="1200" dirty="0">
                          <a:solidFill>
                            <a:schemeClr val="dk1"/>
                          </a:solidFill>
                          <a:latin typeface="Times New Roman" panose="02020603050405020304" pitchFamily="18" charset="0"/>
                          <a:ea typeface="Cambria"/>
                          <a:cs typeface="Times New Roman" panose="02020603050405020304" pitchFamily="18" charset="0"/>
                        </a:rPr>
                        <a:t>                          2420030711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620189840"/>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r>
                        <a:rPr lang="en-IN" sz="1600" dirty="0"/>
                        <a:t>Dr. Neelima Gogineni</a:t>
                      </a:r>
                      <a:endParaRPr lang="en-IN" sz="1600" b="1" dirty="0">
                        <a:solidFill>
                          <a:srgbClr val="C00000"/>
                        </a:solidFill>
                        <a:latin typeface="Times New Roman" panose="02020603050405020304" pitchFamily="18" charset="0"/>
                        <a:cs typeface="Times New Roman" panose="02020603050405020304" pitchFamily="18" charset="0"/>
                      </a:endParaRP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646331"/>
          </a:xfrm>
          <a:prstGeom prst="rect">
            <a:avLst/>
          </a:prstGeom>
          <a:noFill/>
        </p:spPr>
        <p:txBody>
          <a:bodyPr wrap="square">
            <a:spAutoFit/>
          </a:bodyPr>
          <a:lstStyle/>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
        <p:nvSpPr>
          <p:cNvPr id="5" name="TextBox 4">
            <a:extLst>
              <a:ext uri="{FF2B5EF4-FFF2-40B4-BE49-F238E27FC236}">
                <a16:creationId xmlns:a16="http://schemas.microsoft.com/office/drawing/2014/main" id="{975E474E-0073-7E9F-0382-A331A300868A}"/>
              </a:ext>
            </a:extLst>
          </p:cNvPr>
          <p:cNvSpPr txBox="1"/>
          <p:nvPr/>
        </p:nvSpPr>
        <p:spPr>
          <a:xfrm>
            <a:off x="890587" y="963257"/>
            <a:ext cx="10715625" cy="646331"/>
          </a:xfrm>
          <a:prstGeom prst="rect">
            <a:avLst/>
          </a:prstGeom>
          <a:noFill/>
        </p:spPr>
        <p:txBody>
          <a:bodyPr wrap="square">
            <a:spAutoFit/>
          </a:bodyPr>
          <a:lstStyle/>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8" name="TextBox 7">
            <a:extLst>
              <a:ext uri="{FF2B5EF4-FFF2-40B4-BE49-F238E27FC236}">
                <a16:creationId xmlns:a16="http://schemas.microsoft.com/office/drawing/2014/main" id="{CD89AC8F-D943-9974-6F36-8FACA9D35E1D}"/>
              </a:ext>
            </a:extLst>
          </p:cNvPr>
          <p:cNvSpPr txBox="1"/>
          <p:nvPr/>
        </p:nvSpPr>
        <p:spPr>
          <a:xfrm>
            <a:off x="1042987" y="1115657"/>
            <a:ext cx="10715625" cy="646331"/>
          </a:xfrm>
          <a:prstGeom prst="rect">
            <a:avLst/>
          </a:prstGeom>
          <a:noFill/>
        </p:spPr>
        <p:txBody>
          <a:bodyPr wrap="square">
            <a:spAutoFit/>
          </a:bodyPr>
          <a:lstStyle/>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0" name="TextBox 9">
            <a:extLst>
              <a:ext uri="{FF2B5EF4-FFF2-40B4-BE49-F238E27FC236}">
                <a16:creationId xmlns:a16="http://schemas.microsoft.com/office/drawing/2014/main" id="{1D36D65C-E351-4153-1A01-C5BED7D44F7E}"/>
              </a:ext>
            </a:extLst>
          </p:cNvPr>
          <p:cNvSpPr txBox="1"/>
          <p:nvPr/>
        </p:nvSpPr>
        <p:spPr>
          <a:xfrm>
            <a:off x="1195387" y="1268057"/>
            <a:ext cx="10715625" cy="646331"/>
          </a:xfrm>
          <a:prstGeom prst="rect">
            <a:avLst/>
          </a:prstGeom>
          <a:noFill/>
        </p:spPr>
        <p:txBody>
          <a:bodyPr wrap="square">
            <a:spAutoFit/>
          </a:bodyPr>
          <a:lstStyle/>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2" name="TextBox 11">
            <a:extLst>
              <a:ext uri="{FF2B5EF4-FFF2-40B4-BE49-F238E27FC236}">
                <a16:creationId xmlns:a16="http://schemas.microsoft.com/office/drawing/2014/main" id="{69D7D3A8-489E-E1DA-22FB-7C8DE0F5C38D}"/>
              </a:ext>
            </a:extLst>
          </p:cNvPr>
          <p:cNvSpPr txBox="1"/>
          <p:nvPr/>
        </p:nvSpPr>
        <p:spPr>
          <a:xfrm>
            <a:off x="738187" y="810857"/>
            <a:ext cx="11325225" cy="1200329"/>
          </a:xfrm>
          <a:prstGeom prst="rect">
            <a:avLst/>
          </a:prstGeom>
          <a:noFill/>
        </p:spPr>
        <p:txBody>
          <a:bodyPr wrap="square">
            <a:spAutoFit/>
          </a:bodyPr>
          <a:lstStyle/>
          <a:p>
            <a:pPr lvl="0" algn="ctr">
              <a:defRPr/>
            </a:pPr>
            <a:r>
              <a:rPr lang="en-US" sz="3600" dirty="0" err="1">
                <a:solidFill>
                  <a:schemeClr val="bg1"/>
                </a:solidFill>
                <a:latin typeface="Calibri" panose="020F0502020204030204"/>
                <a:cs typeface="Poppins" pitchFamily="2" charset="77"/>
              </a:rPr>
              <a:t>SmartAcad</a:t>
            </a:r>
            <a:r>
              <a:rPr lang="en-US" sz="3600" dirty="0">
                <a:solidFill>
                  <a:schemeClr val="bg1"/>
                </a:solidFill>
                <a:latin typeface="Calibri" panose="020F0502020204030204"/>
                <a:cs typeface="Poppins" pitchFamily="2" charset="77"/>
              </a:rPr>
              <a:t> AI  - An Assignment Tracking and Submission Assistant</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5" name="TextBox 14">
            <a:extLst>
              <a:ext uri="{FF2B5EF4-FFF2-40B4-BE49-F238E27FC236}">
                <a16:creationId xmlns:a16="http://schemas.microsoft.com/office/drawing/2014/main" id="{56D85E72-0438-DD00-C8F2-E531AEE5719E}"/>
              </a:ext>
            </a:extLst>
          </p:cNvPr>
          <p:cNvSpPr txBox="1"/>
          <p:nvPr/>
        </p:nvSpPr>
        <p:spPr>
          <a:xfrm>
            <a:off x="0" y="933560"/>
            <a:ext cx="10715625" cy="646331"/>
          </a:xfrm>
          <a:prstGeom prst="rect">
            <a:avLst/>
          </a:prstGeom>
          <a:noFill/>
        </p:spPr>
        <p:txBody>
          <a:bodyPr wrap="square">
            <a:spAutoFit/>
          </a:bodyPr>
          <a:lstStyle/>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595BCA9-A4D5-CD72-7856-907812EEFE6E}"/>
              </a:ext>
            </a:extLst>
          </p:cNvPr>
          <p:cNvSpPr txBox="1"/>
          <p:nvPr/>
        </p:nvSpPr>
        <p:spPr>
          <a:xfrm>
            <a:off x="1356852" y="1936955"/>
            <a:ext cx="8731045" cy="1754326"/>
          </a:xfrm>
          <a:prstGeom prst="rect">
            <a:avLst/>
          </a:prstGeom>
          <a:noFill/>
        </p:spPr>
        <p:txBody>
          <a:bodyPr wrap="square">
            <a:spAutoFit/>
          </a:bodyPr>
          <a:lstStyle/>
          <a:p>
            <a:r>
              <a:rPr lang="en-IN" dirty="0"/>
              <a:t>Students often have to manage assignments from multiple subjects, each with different deadlines, priorities, and submission requirements. Using notebooks, messages, spreadsheets, or separate applications to remember these tasks can make it difficult to maintain a clear view of pending and completed work. As a result, students may forget deadlines, submit assignments late, or struggle to decide which task should be completed first.</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a:extLst>
              <a:ext uri="{FF2B5EF4-FFF2-40B4-BE49-F238E27FC236}">
                <a16:creationId xmlns:a16="http://schemas.microsoft.com/office/drawing/2014/main" id="{FB75D2AB-8741-BBCA-A904-D2B1AA5BB455}"/>
              </a:ext>
            </a:extLst>
          </p:cNvPr>
          <p:cNvSpPr txBox="1"/>
          <p:nvPr/>
        </p:nvSpPr>
        <p:spPr>
          <a:xfrm>
            <a:off x="845573" y="1115499"/>
            <a:ext cx="10854813" cy="5355312"/>
          </a:xfrm>
          <a:prstGeom prst="rect">
            <a:avLst/>
          </a:prstGeom>
          <a:noFill/>
        </p:spPr>
        <p:txBody>
          <a:bodyPr wrap="square">
            <a:spAutoFit/>
          </a:bodyPr>
          <a:lstStyle/>
          <a:p>
            <a:pPr marL="342900" lvl="0" indent="-342900">
              <a:buFont typeface="+mj-lt"/>
              <a:buAutoNum type="arabicPeriod"/>
            </a:pPr>
            <a:r>
              <a:rPr lang="en-IN" b="1" dirty="0"/>
              <a:t>Manage all assignments in one place</a:t>
            </a:r>
            <a:r>
              <a:rPr lang="en-IN" dirty="0"/>
              <a:t> – Students can organize assignments from different subjects on a single platform. </a:t>
            </a:r>
          </a:p>
          <a:p>
            <a:pPr marL="342900" lvl="0" indent="-342900">
              <a:buFont typeface="+mj-lt"/>
              <a:buAutoNum type="arabicPeriod"/>
            </a:pPr>
            <a:r>
              <a:rPr lang="en-IN" b="1" dirty="0"/>
              <a:t>Keep track of deadlines</a:t>
            </a:r>
            <a:r>
              <a:rPr lang="en-IN" dirty="0"/>
              <a:t> – The system helps students remember upcoming submission dates and avoid missing deadlines. </a:t>
            </a:r>
          </a:p>
          <a:p>
            <a:pPr marL="342900" lvl="0" indent="-342900">
              <a:buFont typeface="+mj-lt"/>
              <a:buAutoNum type="arabicPeriod"/>
            </a:pPr>
            <a:r>
              <a:rPr lang="en-IN" b="1" dirty="0"/>
              <a:t>Prioritize assignments using AI</a:t>
            </a:r>
            <a:r>
              <a:rPr lang="en-IN" dirty="0"/>
              <a:t> – AI helps identify important and urgent assignments based on their deadlines and priority. </a:t>
            </a:r>
          </a:p>
          <a:p>
            <a:pPr marL="342900" lvl="0" indent="-342900">
              <a:buFont typeface="+mj-lt"/>
              <a:buAutoNum type="arabicPeriod"/>
            </a:pPr>
            <a:r>
              <a:rPr lang="en-IN" b="1" dirty="0"/>
              <a:t>Get smart reminders</a:t>
            </a:r>
            <a:r>
              <a:rPr lang="en-IN" dirty="0"/>
              <a:t> – Students receive reminders about upcoming deadlines, pending work, and overdue assignments. </a:t>
            </a:r>
          </a:p>
          <a:p>
            <a:pPr marL="342900" lvl="0" indent="-342900">
              <a:buFont typeface="+mj-lt"/>
              <a:buAutoNum type="arabicPeriod"/>
            </a:pPr>
            <a:r>
              <a:rPr lang="en-IN" b="1" dirty="0"/>
              <a:t>Track assignment status</a:t>
            </a:r>
            <a:r>
              <a:rPr lang="en-IN" dirty="0"/>
              <a:t> – Students can easily check whether an assignment is pending, submitted, completed, or overdue. </a:t>
            </a:r>
          </a:p>
          <a:p>
            <a:pPr marL="342900" lvl="0" indent="-342900">
              <a:buFont typeface="+mj-lt"/>
              <a:buAutoNum type="arabicPeriod"/>
            </a:pPr>
            <a:r>
              <a:rPr lang="en-IN" b="1" dirty="0"/>
              <a:t>Monitor academic progress</a:t>
            </a:r>
            <a:r>
              <a:rPr lang="en-IN" dirty="0"/>
              <a:t> – The system provides an overview of completed and pending assignments to help students manage their workload. </a:t>
            </a:r>
          </a:p>
          <a:p>
            <a:pPr marL="342900" lvl="0" indent="-342900">
              <a:buFont typeface="+mj-lt"/>
              <a:buAutoNum type="arabicPeriod"/>
            </a:pPr>
            <a:r>
              <a:rPr lang="en-IN" b="1" dirty="0"/>
              <a:t>Support faculty management</a:t>
            </a:r>
            <a:r>
              <a:rPr lang="en-IN" dirty="0"/>
              <a:t> – Teachers can create assignments, set deadlines, and monitor students' submission status. </a:t>
            </a:r>
          </a:p>
          <a:p>
            <a:pPr marL="342900" lvl="0" indent="-342900">
              <a:buFont typeface="+mj-lt"/>
              <a:buAutoNum type="arabicPeriod"/>
            </a:pPr>
            <a:r>
              <a:rPr lang="en-IN" b="1" dirty="0"/>
              <a:t>Use microservices architecture</a:t>
            </a:r>
            <a:r>
              <a:rPr lang="en-IN" dirty="0"/>
              <a:t> – Different functions are handled through separate services, making the system easier to maintain and expand. </a:t>
            </a:r>
          </a:p>
          <a:p>
            <a:pPr marL="342900" lvl="0" indent="-342900">
              <a:buFont typeface="+mj-lt"/>
              <a:buAutoNum type="arabicPeriod"/>
            </a:pPr>
            <a:r>
              <a:rPr lang="en-IN" b="1" dirty="0"/>
              <a:t>Improve student productivity</a:t>
            </a:r>
            <a:r>
              <a:rPr lang="en-IN" dirty="0"/>
              <a:t> – The system helps students stay organized, complete assignments on time, and reduce missed submissions.</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736498153"/>
              </p:ext>
            </p:extLst>
          </p:nvPr>
        </p:nvGraphicFramePr>
        <p:xfrm>
          <a:off x="274646" y="689466"/>
          <a:ext cx="11642705" cy="597923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Hilal et. al.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3</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t>
                      </a:r>
                    </a:p>
                  </a:txBody>
                  <a:tcPr/>
                </a:tc>
                <a:tc>
                  <a:txBody>
                    <a:bodyPr/>
                    <a:lstStyle/>
                    <a:p>
                      <a:r>
                        <a:rPr lang="en-IN"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Intelligent Epileptic Seizure Detection and Classification Model Using Optimal Deep Canonical Sparse Autoencoder,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Biology, 2022-mdpi</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Coyote optimization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(COA) for feature selection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Krill herd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(KHA) for parameter tuning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intelligent deep canonical sparse autoencoder-based epileptic seizure detection and classification model using EEG signals.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It achieves a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maximum</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accuracy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of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98.67%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98.73%</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under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binary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multi-classification,</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respectively.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The paper does not mention the specific limitations of the proposed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DCSAE-ESDC </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technique or the experimental analysis conducted using the benchmark epileptic seizure dataset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rPr>
                        <a:t>Made Asri </a:t>
                      </a:r>
                      <a:r>
                        <a:rPr lang="en-IN" sz="1400" dirty="0" err="1">
                          <a:solidFill>
                            <a:srgbClr val="FF0000"/>
                          </a:solidFill>
                        </a:rPr>
                        <a:t>Syaiba</a:t>
                      </a:r>
                      <a:r>
                        <a:rPr lang="en-IN" sz="1400" dirty="0">
                          <a:solidFill>
                            <a:srgbClr val="FF0000"/>
                          </a:solidFill>
                        </a:rPr>
                        <a:t> </a:t>
                      </a:r>
                      <a:r>
                        <a:rPr lang="en-IN" sz="1400" dirty="0" err="1">
                          <a:solidFill>
                            <a:srgbClr val="FF0000"/>
                          </a:solidFill>
                        </a:rPr>
                        <a:t>Almihda</a:t>
                      </a:r>
                      <a:r>
                        <a:rPr lang="en-IN" sz="1400" dirty="0">
                          <a:solidFill>
                            <a:srgbClr val="FF0000"/>
                          </a:solidFill>
                        </a:rPr>
                        <a:t> Hasan, </a:t>
                      </a:r>
                      <a:r>
                        <a:rPr lang="en-IN" sz="1400" dirty="0" err="1">
                          <a:solidFill>
                            <a:srgbClr val="FF0000"/>
                          </a:solidFill>
                        </a:rPr>
                        <a:t>Faradiba</a:t>
                      </a:r>
                      <a:r>
                        <a:rPr lang="en-IN" sz="1400" dirty="0">
                          <a:solidFill>
                            <a:srgbClr val="FF0000"/>
                          </a:solidFill>
                        </a:rPr>
                        <a:t> </a:t>
                      </a:r>
                      <a:r>
                        <a:rPr lang="en-IN" sz="1400" dirty="0" err="1">
                          <a:solidFill>
                            <a:srgbClr val="FF0000"/>
                          </a:solidFill>
                        </a:rPr>
                        <a:t>Isqi</a:t>
                      </a:r>
                      <a:r>
                        <a:rPr lang="en-IN" sz="1400" dirty="0">
                          <a:solidFill>
                            <a:srgbClr val="FF0000"/>
                          </a:solidFill>
                        </a:rPr>
                        <a:t> Al-</a:t>
                      </a:r>
                      <a:r>
                        <a:rPr lang="en-IN" sz="1400" dirty="0" err="1">
                          <a:solidFill>
                            <a:srgbClr val="FF0000"/>
                          </a:solidFill>
                        </a:rPr>
                        <a:t>Azizih</a:t>
                      </a:r>
                      <a:r>
                        <a:rPr lang="en-IN" sz="1400" dirty="0">
                          <a:solidFill>
                            <a:srgbClr val="FF0000"/>
                          </a:solidFill>
                        </a:rPr>
                        <a:t> &amp; Ahmad Hamdani [1]</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0" dirty="0">
                          <a:solidFill>
                            <a:srgbClr val="FF0000"/>
                          </a:solidFill>
                        </a:rPr>
                        <a:t>Designing an Online To-Do-List System to Support Student Productivity in Managing Lecture Assignments and Islamic Boarding School Activities, </a:t>
                      </a:r>
                      <a:r>
                        <a:rPr lang="en-IN" sz="1400" b="0" i="1" dirty="0">
                          <a:solidFill>
                            <a:srgbClr val="FF0000"/>
                          </a:solidFill>
                        </a:rPr>
                        <a:t>JAIEA, 2026</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b="0" dirty="0">
                          <a:solidFill>
                            <a:srgbClr val="FF0000"/>
                          </a:solidFill>
                        </a:rPr>
                        <a:t>• Developed a web-based To-Do-List system for managing academic assignments and other activities.</a:t>
                      </a:r>
                      <a:br>
                        <a:rPr lang="en-IN" sz="1400" b="0" dirty="0">
                          <a:solidFill>
                            <a:srgbClr val="FF0000"/>
                          </a:solidFill>
                        </a:rPr>
                      </a:br>
                      <a:r>
                        <a:rPr lang="en-IN" sz="1400" b="0" dirty="0">
                          <a:solidFill>
                            <a:srgbClr val="FF0000"/>
                          </a:solidFill>
                        </a:rPr>
                        <a:t>• Used the Prototype Method to continuously collect user feedback.</a:t>
                      </a:r>
                      <a:br>
                        <a:rPr lang="en-IN" sz="1400" b="0" dirty="0">
                          <a:solidFill>
                            <a:srgbClr val="FF0000"/>
                          </a:solidFill>
                        </a:rPr>
                      </a:br>
                      <a:r>
                        <a:rPr lang="en-IN" sz="1400" b="0" dirty="0">
                          <a:solidFill>
                            <a:srgbClr val="FF0000"/>
                          </a:solidFill>
                        </a:rPr>
                        <a:t>• Included task recording, schedule reminders, and activity progress monitoring.</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rPr>
                        <a:t>• Provides a centralized way for students to record and organize academic tasks.</a:t>
                      </a:r>
                      <a:br>
                        <a:rPr lang="en-IN" sz="1400" dirty="0">
                          <a:solidFill>
                            <a:srgbClr val="FF0000"/>
                          </a:solidFill>
                        </a:rPr>
                      </a:br>
                      <a:r>
                        <a:rPr lang="en-IN" sz="1400" dirty="0">
                          <a:solidFill>
                            <a:srgbClr val="FF0000"/>
                          </a:solidFill>
                        </a:rPr>
                        <a:t>• Reminders help students manage deadlines and activities.</a:t>
                      </a:r>
                      <a:br>
                        <a:rPr lang="en-IN" sz="1400" dirty="0">
                          <a:solidFill>
                            <a:srgbClr val="FF0000"/>
                          </a:solidFill>
                        </a:rPr>
                      </a:br>
                      <a:r>
                        <a:rPr lang="en-IN" sz="1400" dirty="0">
                          <a:solidFill>
                            <a:srgbClr val="FF0000"/>
                          </a:solidFill>
                        </a:rPr>
                        <a:t>• Progress monitoring supports better productivity and task organization.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rPr>
                        <a:t>• The system mainly focuses on </a:t>
                      </a:r>
                      <a:r>
                        <a:rPr lang="en-IN" sz="1400" b="1" dirty="0">
                          <a:solidFill>
                            <a:srgbClr val="FF0000"/>
                          </a:solidFill>
                        </a:rPr>
                        <a:t>task management and reminders</a:t>
                      </a:r>
                      <a:r>
                        <a:rPr lang="en-IN" sz="1400" dirty="0">
                          <a:solidFill>
                            <a:srgbClr val="FF0000"/>
                          </a:solidFill>
                        </a:rPr>
                        <a:t>.</a:t>
                      </a:r>
                      <a:br>
                        <a:rPr lang="en-IN" sz="1400" dirty="0">
                          <a:solidFill>
                            <a:srgbClr val="FF0000"/>
                          </a:solidFill>
                        </a:rPr>
                      </a:br>
                      <a:r>
                        <a:rPr lang="en-IN" sz="1400" dirty="0">
                          <a:solidFill>
                            <a:srgbClr val="FF0000"/>
                          </a:solidFill>
                        </a:rPr>
                        <a:t>• Future work can include </a:t>
                      </a:r>
                      <a:r>
                        <a:rPr lang="en-IN" sz="1400" b="1" dirty="0">
                          <a:solidFill>
                            <a:srgbClr val="FF0000"/>
                          </a:solidFill>
                        </a:rPr>
                        <a:t>AI-based task prioritization and personalized recommendations</a:t>
                      </a:r>
                      <a:r>
                        <a:rPr lang="en-IN" sz="1400" dirty="0">
                          <a:solidFill>
                            <a:srgbClr val="FF0000"/>
                          </a:solidFill>
                        </a:rPr>
                        <a:t> to provide more intelligent assistance. </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9EEFD69A-EC19-EE70-1D49-892C0DD87472}"/>
              </a:ext>
            </a:extLst>
          </p:cNvPr>
          <p:cNvSpPr txBox="1"/>
          <p:nvPr/>
        </p:nvSpPr>
        <p:spPr>
          <a:xfrm>
            <a:off x="747252" y="1582340"/>
            <a:ext cx="9851922" cy="2308324"/>
          </a:xfrm>
          <a:prstGeom prst="rect">
            <a:avLst/>
          </a:prstGeom>
          <a:noFill/>
        </p:spPr>
        <p:txBody>
          <a:bodyPr wrap="square">
            <a:spAutoFit/>
          </a:bodyPr>
          <a:lstStyle/>
          <a:p>
            <a:pPr marL="342900" lvl="0" indent="-342900">
              <a:buFont typeface="Arial" panose="020B0604020202020204" pitchFamily="34" charset="0"/>
              <a:buChar char="•"/>
            </a:pPr>
            <a:r>
              <a:rPr lang="en-IN" dirty="0"/>
              <a:t>Most existing systems </a:t>
            </a:r>
            <a:r>
              <a:rPr lang="en-IN" b="1" dirty="0"/>
              <a:t>only help students store assignments and deadlines</a:t>
            </a:r>
            <a:r>
              <a:rPr lang="en-IN" dirty="0"/>
              <a:t>. </a:t>
            </a:r>
          </a:p>
          <a:p>
            <a:pPr marL="342900" lvl="0" indent="-342900">
              <a:buFont typeface="Arial" panose="020B0604020202020204" pitchFamily="34" charset="0"/>
              <a:buChar char="•"/>
            </a:pPr>
            <a:r>
              <a:rPr lang="en-IN" dirty="0"/>
              <a:t>They usually give </a:t>
            </a:r>
            <a:r>
              <a:rPr lang="en-IN" b="1" dirty="0"/>
              <a:t>basic reminders</a:t>
            </a:r>
            <a:r>
              <a:rPr lang="en-IN" dirty="0"/>
              <a:t> but do not understand which assignment is more urgent. </a:t>
            </a:r>
          </a:p>
          <a:p>
            <a:pPr marL="342900" lvl="0" indent="-342900">
              <a:buFont typeface="Arial" panose="020B0604020202020204" pitchFamily="34" charset="0"/>
              <a:buChar char="•"/>
            </a:pPr>
            <a:r>
              <a:rPr lang="en-IN" dirty="0"/>
              <a:t>There is </a:t>
            </a:r>
            <a:r>
              <a:rPr lang="en-IN" b="1" dirty="0"/>
              <a:t>limited use of AI</a:t>
            </a:r>
            <a:r>
              <a:rPr lang="en-IN" dirty="0"/>
              <a:t> to </a:t>
            </a:r>
            <a:r>
              <a:rPr lang="en-IN" dirty="0" err="1"/>
              <a:t>analyze</a:t>
            </a:r>
            <a:r>
              <a:rPr lang="en-IN" dirty="0"/>
              <a:t> deadlines, workload, and help students decide what to do first. </a:t>
            </a:r>
          </a:p>
          <a:p>
            <a:pPr marL="342900" lvl="0" indent="-342900">
              <a:buFont typeface="Arial" panose="020B0604020202020204" pitchFamily="34" charset="0"/>
              <a:buChar char="•"/>
            </a:pPr>
            <a:r>
              <a:rPr lang="en-IN" dirty="0"/>
              <a:t>Assignment </a:t>
            </a:r>
            <a:r>
              <a:rPr lang="en-IN" b="1" dirty="0"/>
              <a:t>submission status and academic progress</a:t>
            </a:r>
            <a:r>
              <a:rPr lang="en-IN" dirty="0"/>
              <a:t> are not always managed together. </a:t>
            </a:r>
          </a:p>
          <a:p>
            <a:pPr marL="342900" lvl="0" indent="-342900">
              <a:buFont typeface="Arial" panose="020B0604020202020204" pitchFamily="34" charset="0"/>
              <a:buChar char="•"/>
            </a:pPr>
            <a:r>
              <a:rPr lang="en-IN" dirty="0"/>
              <a:t>Many systems mainly focus on students and provide </a:t>
            </a:r>
            <a:r>
              <a:rPr lang="en-IN" b="1" dirty="0"/>
              <a:t>limited support for teachers</a:t>
            </a:r>
            <a:r>
              <a:rPr lang="en-IN" dirty="0"/>
              <a:t> to manage assignments and submissions. </a:t>
            </a:r>
          </a:p>
          <a:p>
            <a:pPr marL="342900" lvl="0" indent="-342900">
              <a:buFont typeface="Arial" panose="020B0604020202020204" pitchFamily="34" charset="0"/>
              <a:buChar char="•"/>
            </a:pPr>
            <a:r>
              <a:rPr lang="en-IN" dirty="0"/>
              <a:t>Existing solutions often work as separate features instead of providing </a:t>
            </a:r>
            <a:r>
              <a:rPr lang="en-IN" b="1" dirty="0"/>
              <a:t>one complete platform</a:t>
            </a:r>
            <a:r>
              <a:rPr lang="en-IN" dirty="0"/>
              <a: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55BA1B2-E21F-11B6-EDD8-7FD273E7C186}"/>
              </a:ext>
            </a:extLst>
          </p:cNvPr>
          <p:cNvSpPr txBox="1"/>
          <p:nvPr/>
        </p:nvSpPr>
        <p:spPr>
          <a:xfrm>
            <a:off x="639096" y="1390662"/>
            <a:ext cx="10913806" cy="5355312"/>
          </a:xfrm>
          <a:prstGeom prst="rect">
            <a:avLst/>
          </a:prstGeom>
          <a:noFill/>
        </p:spPr>
        <p:txBody>
          <a:bodyPr wrap="square">
            <a:spAutoFit/>
          </a:bodyPr>
          <a:lstStyle/>
          <a:p>
            <a:pPr marL="342900" lvl="0" indent="-342900">
              <a:buFont typeface="+mj-lt"/>
              <a:buAutoNum type="arabicPeriod"/>
            </a:pPr>
            <a:r>
              <a:rPr lang="en-IN" b="1" dirty="0"/>
              <a:t>AI-Based Academic Assistant:</a:t>
            </a:r>
            <a:br>
              <a:rPr lang="en-IN" dirty="0"/>
            </a:br>
            <a:r>
              <a:rPr lang="en-IN" dirty="0"/>
              <a:t>Helps students manage their assignments using AI and gives useful suggestions. </a:t>
            </a:r>
          </a:p>
          <a:p>
            <a:pPr marL="342900" lvl="0" indent="-342900">
              <a:buFont typeface="+mj-lt"/>
              <a:buAutoNum type="arabicPeriod"/>
            </a:pPr>
            <a:r>
              <a:rPr lang="en-IN" b="1" dirty="0"/>
              <a:t>Smart Task Prioritization:</a:t>
            </a:r>
            <a:br>
              <a:rPr lang="en-IN" dirty="0"/>
            </a:br>
            <a:r>
              <a:rPr lang="en-IN" dirty="0"/>
              <a:t>Helps students know </a:t>
            </a:r>
            <a:r>
              <a:rPr lang="en-IN" b="1" dirty="0"/>
              <a:t>which assignment to complete first</a:t>
            </a:r>
            <a:r>
              <a:rPr lang="en-IN" dirty="0"/>
              <a:t> based on deadline and importance. </a:t>
            </a:r>
          </a:p>
          <a:p>
            <a:pPr marL="342900" lvl="0" indent="-342900">
              <a:buFont typeface="+mj-lt"/>
              <a:buAutoNum type="arabicPeriod"/>
            </a:pPr>
            <a:r>
              <a:rPr lang="en-IN" b="1" dirty="0"/>
              <a:t>Smart Reminders:</a:t>
            </a:r>
            <a:br>
              <a:rPr lang="en-IN" dirty="0"/>
            </a:br>
            <a:r>
              <a:rPr lang="en-IN" dirty="0"/>
              <a:t>Sends reminders for </a:t>
            </a:r>
            <a:r>
              <a:rPr lang="en-IN" b="1" dirty="0"/>
              <a:t>upcoming and overdue assignments</a:t>
            </a:r>
            <a:r>
              <a:rPr lang="en-IN" dirty="0"/>
              <a:t> so students do not miss deadlines. </a:t>
            </a:r>
          </a:p>
          <a:p>
            <a:pPr marL="342900" lvl="0" indent="-342900">
              <a:buFont typeface="+mj-lt"/>
              <a:buAutoNum type="arabicPeriod"/>
            </a:pPr>
            <a:r>
              <a:rPr lang="en-IN" b="1" dirty="0"/>
              <a:t>Complete Assignment Tracking:</a:t>
            </a:r>
            <a:br>
              <a:rPr lang="en-IN" dirty="0"/>
            </a:br>
            <a:r>
              <a:rPr lang="en-IN" dirty="0"/>
              <a:t>Keeps assignment details, deadlines, submission status, and progress </a:t>
            </a:r>
            <a:r>
              <a:rPr lang="en-IN" b="1" dirty="0"/>
              <a:t>in one place</a:t>
            </a:r>
            <a:r>
              <a:rPr lang="en-IN" dirty="0"/>
              <a:t>. </a:t>
            </a:r>
          </a:p>
          <a:p>
            <a:pPr marL="342900" lvl="0" indent="-342900">
              <a:buFont typeface="+mj-lt"/>
              <a:buAutoNum type="arabicPeriod"/>
            </a:pPr>
            <a:r>
              <a:rPr lang="en-IN" b="1" dirty="0"/>
              <a:t>Student and Faculty Support:</a:t>
            </a:r>
            <a:br>
              <a:rPr lang="en-IN" dirty="0"/>
            </a:br>
            <a:r>
              <a:rPr lang="en-IN" dirty="0"/>
              <a:t>Teachers can create assignments and set deadlines, while students can view and track their submissions. </a:t>
            </a:r>
          </a:p>
          <a:p>
            <a:pPr marL="342900" lvl="0" indent="-342900">
              <a:buFont typeface="+mj-lt"/>
              <a:buAutoNum type="arabicPeriod"/>
            </a:pPr>
            <a:r>
              <a:rPr lang="en-IN" b="1" dirty="0"/>
              <a:t>Personalized Support:</a:t>
            </a:r>
            <a:br>
              <a:rPr lang="en-IN" dirty="0"/>
            </a:br>
            <a:r>
              <a:rPr lang="en-IN" dirty="0"/>
              <a:t>Gives suggestions based on the student's </a:t>
            </a:r>
            <a:r>
              <a:rPr lang="en-IN" b="1" dirty="0"/>
              <a:t>pending assignments and workload</a:t>
            </a:r>
            <a:r>
              <a:rPr lang="en-IN" dirty="0"/>
              <a:t>. </a:t>
            </a:r>
          </a:p>
          <a:p>
            <a:pPr marL="342900" lvl="0" indent="-342900">
              <a:buFont typeface="+mj-lt"/>
              <a:buAutoNum type="arabicPeriod"/>
            </a:pPr>
            <a:r>
              <a:rPr lang="en-IN" b="1" dirty="0"/>
              <a:t>One Centralized Platform:</a:t>
            </a:r>
            <a:br>
              <a:rPr lang="en-IN" dirty="0"/>
            </a:br>
            <a:r>
              <a:rPr lang="en-IN" dirty="0"/>
              <a:t>Combines assignments, reminders, submissions, and progress tracking </a:t>
            </a:r>
            <a:r>
              <a:rPr lang="en-IN" b="1" dirty="0"/>
              <a:t>in a single system</a:t>
            </a:r>
            <a:r>
              <a:rPr lang="en-IN" dirty="0"/>
              <a:t>. </a:t>
            </a:r>
          </a:p>
          <a:p>
            <a:pPr marL="342900" lvl="0" indent="-342900">
              <a:buFont typeface="+mj-lt"/>
              <a:buAutoNum type="arabicPeriod"/>
            </a:pPr>
            <a:r>
              <a:rPr lang="en-IN" b="1" dirty="0"/>
              <a:t>Microservices-Based Design:</a:t>
            </a:r>
            <a:br>
              <a:rPr lang="en-IN" dirty="0"/>
            </a:br>
            <a:r>
              <a:rPr lang="en-IN" dirty="0"/>
              <a:t>Uses separate services for assignments, users, notifications, submissions, and AI, making the system </a:t>
            </a:r>
            <a:r>
              <a:rPr lang="en-IN" b="1" dirty="0"/>
              <a:t>easy to manage and expand</a:t>
            </a:r>
            <a:r>
              <a:rPr lang="en-IN" dirty="0"/>
              <a:t>. </a:t>
            </a:r>
          </a:p>
          <a:p>
            <a:pPr marL="342900" lvl="0" indent="-342900">
              <a:buFont typeface="+mj-lt"/>
              <a:buAutoNum type="arabicPeriod"/>
            </a:pPr>
            <a:r>
              <a:rPr lang="en-IN" b="1" dirty="0"/>
              <a:t>Improved Student Productivity:</a:t>
            </a:r>
            <a:br>
              <a:rPr lang="en-IN" dirty="0"/>
            </a:br>
            <a:r>
              <a:rPr lang="en-IN" dirty="0"/>
              <a:t>Helps students </a:t>
            </a:r>
            <a:r>
              <a:rPr lang="en-IN" b="1" dirty="0"/>
              <a:t>stay organized, manage their time, and complete assignments on time</a:t>
            </a:r>
            <a:r>
              <a:rPr lang="en-IN" dirty="0"/>
              <a:t>. </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3" name="Picture 2">
            <a:extLst>
              <a:ext uri="{FF2B5EF4-FFF2-40B4-BE49-F238E27FC236}">
                <a16:creationId xmlns:a16="http://schemas.microsoft.com/office/drawing/2014/main" id="{613E6A0D-DFC7-FFB4-8235-134631DEEF9D}"/>
              </a:ext>
            </a:extLst>
          </p:cNvPr>
          <p:cNvPicPr>
            <a:picLocks noChangeAspect="1"/>
          </p:cNvPicPr>
          <p:nvPr/>
        </p:nvPicPr>
        <p:blipFill>
          <a:blip r:embed="rId3"/>
          <a:stretch>
            <a:fillRect/>
          </a:stretch>
        </p:blipFill>
        <p:spPr>
          <a:xfrm>
            <a:off x="835742" y="1750142"/>
            <a:ext cx="10628671" cy="455680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870</Words>
  <Application>Microsoft Office PowerPoint</Application>
  <PresentationFormat>Widescreen</PresentationFormat>
  <Paragraphs>90</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Haswanthi Madala</cp:lastModifiedBy>
  <cp:revision>33</cp:revision>
  <dcterms:created xsi:type="dcterms:W3CDTF">2026-08-08T06:33:56Z</dcterms:created>
  <dcterms:modified xsi:type="dcterms:W3CDTF">2026-08-20T08:33:35Z</dcterms:modified>
</cp:coreProperties>
</file>